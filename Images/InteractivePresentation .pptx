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9" r:id="rId2"/>
    <p:sldId id="282" r:id="rId3"/>
    <p:sldId id="274" r:id="rId4"/>
    <p:sldId id="272" r:id="rId5"/>
    <p:sldId id="276" r:id="rId6"/>
    <p:sldId id="270" r:id="rId7"/>
    <p:sldId id="258" r:id="rId8"/>
    <p:sldId id="256" r:id="rId9"/>
    <p:sldId id="257" r:id="rId10"/>
    <p:sldId id="278" r:id="rId11"/>
    <p:sldId id="279" r:id="rId12"/>
    <p:sldId id="260" r:id="rId13"/>
    <p:sldId id="261" r:id="rId14"/>
    <p:sldId id="262" r:id="rId15"/>
    <p:sldId id="263" r:id="rId16"/>
    <p:sldId id="265" r:id="rId17"/>
    <p:sldId id="266" r:id="rId18"/>
    <p:sldId id="267" r:id="rId19"/>
    <p:sldId id="268" r:id="rId20"/>
    <p:sldId id="269" r:id="rId21"/>
    <p:sldId id="280" r:id="rId22"/>
    <p:sldId id="281" r:id="rId23"/>
    <p:sldId id="283" r:id="rId24"/>
    <p:sldId id="284" r:id="rId25"/>
  </p:sldIdLst>
  <p:sldSz cx="18288000" cy="10287000"/>
  <p:notesSz cx="6858000" cy="9144000"/>
  <p:embeddedFontLst>
    <p:embeddedFont>
      <p:font typeface="Brittany" panose="020B0604020202020204" charset="0"/>
      <p:regular r:id="rId26"/>
    </p:embeddedFont>
    <p:embeddedFont>
      <p:font typeface="Canva Sans Bold" panose="020B0604020202020204" charset="0"/>
      <p:regular r:id="rId27"/>
    </p:embeddedFont>
    <p:embeddedFont>
      <p:font typeface="Invitation" pitchFamily="2" charset="0"/>
      <p:regular r:id="rId28"/>
    </p:embeddedFont>
    <p:embeddedFont>
      <p:font typeface="Open Sans" panose="020B0606030504020204" pitchFamily="34" charset="0"/>
      <p:regular r:id="rId29"/>
    </p:embeddedFont>
    <p:embeddedFont>
      <p:font typeface="Open Sans Bold" panose="020B0604020202020204" charset="0"/>
      <p:regular r:id="rId30"/>
    </p:embeddedFont>
    <p:embeddedFont>
      <p:font typeface="Poppins" panose="00000500000000000000" pitchFamily="2" charset="0"/>
      <p:regular r:id="rId31"/>
    </p:embeddedFont>
    <p:embeddedFont>
      <p:font typeface="Poppins Bold" panose="00000800000000000000" charset="0"/>
      <p:regular r:id="rId32"/>
    </p:embeddedFont>
    <p:embeddedFont>
      <p:font typeface="Times New Roman MT Italics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874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12" Type="http://schemas.openxmlformats.org/officeDocument/2006/relationships/slide" Target="slide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3.xml"/><Relationship Id="rId5" Type="http://schemas.microsoft.com/office/2007/relationships/hdphoto" Target="../media/hdphoto1.wdp"/><Relationship Id="rId15" Type="http://schemas.openxmlformats.org/officeDocument/2006/relationships/image" Target="../media/image10.svg"/><Relationship Id="rId10" Type="http://schemas.openxmlformats.org/officeDocument/2006/relationships/slide" Target="slide5.xml"/><Relationship Id="rId4" Type="http://schemas.openxmlformats.org/officeDocument/2006/relationships/image" Target="../media/image3.png"/><Relationship Id="rId9" Type="http://schemas.openxmlformats.org/officeDocument/2006/relationships/image" Target="../media/image7.svg"/><Relationship Id="rId1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3.xml"/><Relationship Id="rId5" Type="http://schemas.microsoft.com/office/2007/relationships/hdphoto" Target="../media/hdphoto1.wdp"/><Relationship Id="rId15" Type="http://schemas.openxmlformats.org/officeDocument/2006/relationships/slide" Target="slide6.xml"/><Relationship Id="rId10" Type="http://schemas.openxmlformats.org/officeDocument/2006/relationships/slide" Target="slide4.xml"/><Relationship Id="rId4" Type="http://schemas.openxmlformats.org/officeDocument/2006/relationships/image" Target="../media/image3.png"/><Relationship Id="rId9" Type="http://schemas.openxmlformats.org/officeDocument/2006/relationships/image" Target="../media/image7.svg"/><Relationship Id="rId1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2.xml"/><Relationship Id="rId5" Type="http://schemas.microsoft.com/office/2007/relationships/hdphoto" Target="../media/hdphoto1.wdp"/><Relationship Id="rId15" Type="http://schemas.openxmlformats.org/officeDocument/2006/relationships/slide" Target="slide4.xml"/><Relationship Id="rId10" Type="http://schemas.openxmlformats.org/officeDocument/2006/relationships/slide" Target="slide5.xml"/><Relationship Id="rId4" Type="http://schemas.openxmlformats.org/officeDocument/2006/relationships/image" Target="../media/image3.png"/><Relationship Id="rId9" Type="http://schemas.openxmlformats.org/officeDocument/2006/relationships/image" Target="../media/image7.svg"/><Relationship Id="rId14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2.xml"/><Relationship Id="rId5" Type="http://schemas.microsoft.com/office/2007/relationships/hdphoto" Target="../media/hdphoto1.wdp"/><Relationship Id="rId15" Type="http://schemas.openxmlformats.org/officeDocument/2006/relationships/slide" Target="slide7.xml"/><Relationship Id="rId10" Type="http://schemas.openxmlformats.org/officeDocument/2006/relationships/slide" Target="slide5.xml"/><Relationship Id="rId4" Type="http://schemas.openxmlformats.org/officeDocument/2006/relationships/image" Target="../media/image3.png"/><Relationship Id="rId9" Type="http://schemas.openxmlformats.org/officeDocument/2006/relationships/image" Target="../media/image7.svg"/><Relationship Id="rId14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2" Type="http://schemas.openxmlformats.org/officeDocument/2006/relationships/image" Target="../media/image1.png"/><Relationship Id="rId16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slide" Target="slide2.xml"/><Relationship Id="rId5" Type="http://schemas.microsoft.com/office/2007/relationships/hdphoto" Target="../media/hdphoto1.wdp"/><Relationship Id="rId15" Type="http://schemas.openxmlformats.org/officeDocument/2006/relationships/slide" Target="slide8.xml"/><Relationship Id="rId10" Type="http://schemas.openxmlformats.org/officeDocument/2006/relationships/slide" Target="slide3.xml"/><Relationship Id="rId4" Type="http://schemas.openxmlformats.org/officeDocument/2006/relationships/image" Target="../media/image3.png"/><Relationship Id="rId9" Type="http://schemas.openxmlformats.org/officeDocument/2006/relationships/image" Target="../media/image7.svg"/><Relationship Id="rId14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5.svg"/><Relationship Id="rId7" Type="http://schemas.openxmlformats.org/officeDocument/2006/relationships/image" Target="../media/image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20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3.png"/><Relationship Id="rId7" Type="http://schemas.openxmlformats.org/officeDocument/2006/relationships/image" Target="../media/image2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11" Type="http://schemas.openxmlformats.org/officeDocument/2006/relationships/image" Target="../media/image10.svg"/><Relationship Id="rId5" Type="http://schemas.openxmlformats.org/officeDocument/2006/relationships/slide" Target="slide9.xml"/><Relationship Id="rId10" Type="http://schemas.openxmlformats.org/officeDocument/2006/relationships/image" Target="../media/image9.png"/><Relationship Id="rId4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slide" Target="slide8.xml"/><Relationship Id="rId7" Type="http://schemas.openxmlformats.org/officeDocument/2006/relationships/image" Target="../media/image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slide" Target="slide1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jpeg"/><Relationship Id="rId3" Type="http://schemas.openxmlformats.org/officeDocument/2006/relationships/slide" Target="slide8.xml"/><Relationship Id="rId7" Type="http://schemas.openxmlformats.org/officeDocument/2006/relationships/image" Target="../media/image33.jpeg"/><Relationship Id="rId12" Type="http://schemas.openxmlformats.org/officeDocument/2006/relationships/image" Target="../media/image2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jpeg"/><Relationship Id="rId11" Type="http://schemas.openxmlformats.org/officeDocument/2006/relationships/slide" Target="slide17.xml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slide" Target="slide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" Target="slide8.xml"/><Relationship Id="rId7" Type="http://schemas.openxmlformats.org/officeDocument/2006/relationships/image" Target="../media/image36.png"/><Relationship Id="rId12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jpeg"/><Relationship Id="rId11" Type="http://schemas.openxmlformats.org/officeDocument/2006/relationships/image" Target="../media/image37.png"/><Relationship Id="rId5" Type="http://schemas.openxmlformats.org/officeDocument/2006/relationships/image" Target="../media/image28.png"/><Relationship Id="rId10" Type="http://schemas.openxmlformats.org/officeDocument/2006/relationships/image" Target="../media/image31.png"/><Relationship Id="rId4" Type="http://schemas.openxmlformats.org/officeDocument/2006/relationships/image" Target="../media/image27.png"/><Relationship Id="rId9" Type="http://schemas.openxmlformats.org/officeDocument/2006/relationships/slide" Target="slide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23.png"/><Relationship Id="rId3" Type="http://schemas.openxmlformats.org/officeDocument/2006/relationships/slide" Target="slide8.xml"/><Relationship Id="rId7" Type="http://schemas.openxmlformats.org/officeDocument/2006/relationships/slide" Target="slide13.xml"/><Relationship Id="rId12" Type="http://schemas.openxmlformats.org/officeDocument/2006/relationships/image" Target="../media/image40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jpeg"/><Relationship Id="rId11" Type="http://schemas.openxmlformats.org/officeDocument/2006/relationships/image" Target="../media/image39.jpeg"/><Relationship Id="rId5" Type="http://schemas.openxmlformats.org/officeDocument/2006/relationships/image" Target="../media/image28.png"/><Relationship Id="rId10" Type="http://schemas.openxmlformats.org/officeDocument/2006/relationships/image" Target="../media/image30.png"/><Relationship Id="rId4" Type="http://schemas.openxmlformats.org/officeDocument/2006/relationships/image" Target="../media/image27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e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23.png"/><Relationship Id="rId5" Type="http://schemas.openxmlformats.org/officeDocument/2006/relationships/slide" Target="slide8.xml"/><Relationship Id="rId10" Type="http://schemas.openxmlformats.org/officeDocument/2006/relationships/image" Target="../media/image43.jpeg"/><Relationship Id="rId4" Type="http://schemas.openxmlformats.org/officeDocument/2006/relationships/image" Target="../media/image10.svg"/><Relationship Id="rId9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slide" Target="slide8.xml"/><Relationship Id="rId7" Type="http://schemas.openxmlformats.org/officeDocument/2006/relationships/image" Target="../media/image30.png"/><Relationship Id="rId12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slide" Target="slide15.xml"/><Relationship Id="rId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27.png"/><Relationship Id="rId9" Type="http://schemas.openxmlformats.org/officeDocument/2006/relationships/image" Target="../media/image4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8.xml"/><Relationship Id="rId13" Type="http://schemas.openxmlformats.org/officeDocument/2006/relationships/image" Target="../media/image31.png"/><Relationship Id="rId3" Type="http://schemas.openxmlformats.org/officeDocument/2006/relationships/image" Target="../media/image37.png"/><Relationship Id="rId7" Type="http://schemas.openxmlformats.org/officeDocument/2006/relationships/image" Target="../media/image48.jpeg"/><Relationship Id="rId12" Type="http://schemas.openxmlformats.org/officeDocument/2006/relationships/slide" Target="slide16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jpeg"/><Relationship Id="rId11" Type="http://schemas.openxmlformats.org/officeDocument/2006/relationships/image" Target="../media/image23.png"/><Relationship Id="rId5" Type="http://schemas.openxmlformats.org/officeDocument/2006/relationships/image" Target="../media/image46.jpeg"/><Relationship Id="rId10" Type="http://schemas.openxmlformats.org/officeDocument/2006/relationships/image" Target="../media/image28.png"/><Relationship Id="rId4" Type="http://schemas.openxmlformats.org/officeDocument/2006/relationships/image" Target="../media/image30.png"/><Relationship Id="rId9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jpeg"/><Relationship Id="rId3" Type="http://schemas.openxmlformats.org/officeDocument/2006/relationships/slide" Target="slide8.xml"/><Relationship Id="rId7" Type="http://schemas.openxmlformats.org/officeDocument/2006/relationships/image" Target="../media/image50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13" Type="http://schemas.openxmlformats.org/officeDocument/2006/relationships/slide" Target="slide24.xml"/><Relationship Id="rId3" Type="http://schemas.openxmlformats.org/officeDocument/2006/relationships/slide" Target="slide8.xml"/><Relationship Id="rId7" Type="http://schemas.openxmlformats.org/officeDocument/2006/relationships/image" Target="../media/image30.png"/><Relationship Id="rId12" Type="http://schemas.openxmlformats.org/officeDocument/2006/relationships/slide" Target="slide1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slide" Target="slide23.xml"/><Relationship Id="rId5" Type="http://schemas.openxmlformats.org/officeDocument/2006/relationships/image" Target="../media/image28.png"/><Relationship Id="rId10" Type="http://schemas.openxmlformats.org/officeDocument/2006/relationships/slide" Target="slide19.xml"/><Relationship Id="rId4" Type="http://schemas.openxmlformats.org/officeDocument/2006/relationships/image" Target="../media/image27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slide" Target="slide8.xml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31.png"/><Relationship Id="rId5" Type="http://schemas.openxmlformats.org/officeDocument/2006/relationships/image" Target="../media/image28.png"/><Relationship Id="rId10" Type="http://schemas.openxmlformats.org/officeDocument/2006/relationships/slide" Target="slide20.xml"/><Relationship Id="rId4" Type="http://schemas.openxmlformats.org/officeDocument/2006/relationships/image" Target="../media/image27.png"/><Relationship Id="rId9" Type="http://schemas.openxmlformats.org/officeDocument/2006/relationships/image" Target="../media/image53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slide" Target="slide8.xml"/><Relationship Id="rId7" Type="http://schemas.openxmlformats.org/officeDocument/2006/relationships/slide" Target="slide2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slide" Target="slide8.xml"/><Relationship Id="rId4" Type="http://schemas.openxmlformats.org/officeDocument/2006/relationships/image" Target="../media/image10.svg"/><Relationship Id="rId9" Type="http://schemas.openxmlformats.org/officeDocument/2006/relationships/image" Target="../media/image5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8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jpe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1189371">
                <a:moveTo>
                  <a:pt x="0" y="0"/>
                </a:moveTo>
                <a:lnTo>
                  <a:pt x="18288000" y="0"/>
                </a:lnTo>
                <a:lnTo>
                  <a:pt x="18288000" y="11189371"/>
                </a:lnTo>
                <a:lnTo>
                  <a:pt x="0" y="1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14000"/>
                      </a14:imgEffect>
                    </a14:imgLayer>
                  </a14:imgProps>
                </a:ext>
              </a:extLst>
            </a:blip>
            <a:stretch>
              <a:fillRect t="-8838" b="-8838"/>
            </a:stretch>
          </a:blipFill>
          <a:effectLst>
            <a:outerShdw blurRad="50800" dist="50800" dir="5400000" algn="ctr" rotWithShape="0">
              <a:schemeClr val="tx1">
                <a:alpha val="93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0256454" y="0"/>
            <a:ext cx="8041071" cy="1176053"/>
            <a:chOff x="0" y="0"/>
            <a:chExt cx="1852462" cy="2709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52462" cy="270933"/>
            </a:xfrm>
            <a:custGeom>
              <a:avLst/>
              <a:gdLst/>
              <a:ahLst/>
              <a:cxnLst/>
              <a:rect l="l" t="t" r="r" b="b"/>
              <a:pathLst>
                <a:path w="1852462" h="270933">
                  <a:moveTo>
                    <a:pt x="0" y="0"/>
                  </a:moveTo>
                  <a:lnTo>
                    <a:pt x="1852462" y="0"/>
                  </a:lnTo>
                  <a:lnTo>
                    <a:pt x="185246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852462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7263034" y="428314"/>
            <a:ext cx="552464" cy="319425"/>
          </a:xfrm>
          <a:custGeom>
            <a:avLst/>
            <a:gdLst/>
            <a:ahLst/>
            <a:cxnLst/>
            <a:rect l="l" t="t" r="r" b="b"/>
            <a:pathLst>
              <a:path w="552464" h="319425">
                <a:moveTo>
                  <a:pt x="0" y="0"/>
                </a:moveTo>
                <a:lnTo>
                  <a:pt x="552464" y="0"/>
                </a:lnTo>
                <a:lnTo>
                  <a:pt x="552464" y="319425"/>
                </a:lnTo>
                <a:lnTo>
                  <a:pt x="0" y="319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070927" y="4493783"/>
            <a:ext cx="13034800" cy="160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8"/>
              </a:lnSpc>
              <a:spcBef>
                <a:spcPct val="0"/>
              </a:spcBef>
            </a:pPr>
            <a:r>
              <a:rPr lang="en-US" sz="88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Through Beit Yakan</a:t>
            </a:r>
          </a:p>
        </p:txBody>
      </p:sp>
      <p:sp>
        <p:nvSpPr>
          <p:cNvPr id="8" name="Freeform 8"/>
          <p:cNvSpPr/>
          <p:nvPr/>
        </p:nvSpPr>
        <p:spPr>
          <a:xfrm>
            <a:off x="-83293" y="0"/>
            <a:ext cx="6342108" cy="10287000"/>
          </a:xfrm>
          <a:custGeom>
            <a:avLst/>
            <a:gdLst/>
            <a:ahLst/>
            <a:cxnLst/>
            <a:rect l="l" t="t" r="r" b="b"/>
            <a:pathLst>
              <a:path w="6244511" h="11260594">
                <a:moveTo>
                  <a:pt x="0" y="0"/>
                </a:moveTo>
                <a:lnTo>
                  <a:pt x="6244511" y="0"/>
                </a:lnTo>
                <a:lnTo>
                  <a:pt x="6244511" y="11260593"/>
                </a:lnTo>
                <a:lnTo>
                  <a:pt x="0" y="11260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5986760" y="459504"/>
            <a:ext cx="1118617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Spring 26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526454" y="457177"/>
            <a:ext cx="3475546" cy="228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Architectural Photographic Techniques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090816" y="457177"/>
            <a:ext cx="925752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ASE 4534</a:t>
            </a:r>
          </a:p>
        </p:txBody>
      </p:sp>
      <p:sp>
        <p:nvSpPr>
          <p:cNvPr id="13" name="Freeform 13"/>
          <p:cNvSpPr/>
          <p:nvPr/>
        </p:nvSpPr>
        <p:spPr>
          <a:xfrm>
            <a:off x="-375294" y="-7620"/>
            <a:ext cx="7034766" cy="12577729"/>
          </a:xfrm>
          <a:custGeom>
            <a:avLst/>
            <a:gdLst/>
            <a:ahLst/>
            <a:cxnLst/>
            <a:rect l="l" t="t" r="r" b="b"/>
            <a:pathLst>
              <a:path w="7034766" h="12685643">
                <a:moveTo>
                  <a:pt x="0" y="0"/>
                </a:moveTo>
                <a:lnTo>
                  <a:pt x="7034765" y="0"/>
                </a:lnTo>
                <a:lnTo>
                  <a:pt x="7034765" y="12685643"/>
                </a:lnTo>
                <a:lnTo>
                  <a:pt x="0" y="12685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183525" y="3622883"/>
            <a:ext cx="10987868" cy="11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7"/>
              </a:lnSpc>
              <a:spcBef>
                <a:spcPct val="0"/>
              </a:spcBef>
            </a:pPr>
            <a:r>
              <a:rPr lang="en-US" sz="6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Photographic Journey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38350" y="6139657"/>
            <a:ext cx="10678218" cy="85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 Sequential Exploration of Space and Atmosphere</a:t>
            </a:r>
          </a:p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By: Hadeel Zakaria 220009</a:t>
            </a:r>
          </a:p>
        </p:txBody>
      </p:sp>
      <p:sp useBgFill="1">
        <p:nvSpPr>
          <p:cNvPr id="17" name="Rectangle: Rounded Corners 16">
            <a:hlinkHover r:id="rId10" action="ppaction://hlinksldjump" highlightClick="1"/>
            <a:extLst>
              <a:ext uri="{FF2B5EF4-FFF2-40B4-BE49-F238E27FC236}">
                <a16:creationId xmlns:a16="http://schemas.microsoft.com/office/drawing/2014/main" id="{473E3457-FBC0-DDA0-62CD-FEF420A984BB}"/>
              </a:ext>
            </a:extLst>
          </p:cNvPr>
          <p:cNvSpPr/>
          <p:nvPr/>
        </p:nvSpPr>
        <p:spPr>
          <a:xfrm>
            <a:off x="11074900" y="7435899"/>
            <a:ext cx="2730695" cy="1371600"/>
          </a:xfrm>
          <a:prstGeom prst="roundRect">
            <a:avLst/>
          </a:prstGeom>
          <a:ln>
            <a:noFill/>
          </a:ln>
          <a:effectLst>
            <a:innerShdw blurRad="1397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A8561920-76E0-49C6-B6D0-C19F265FEE46}"/>
              </a:ext>
            </a:extLst>
          </p:cNvPr>
          <p:cNvSpPr txBox="1"/>
          <p:nvPr/>
        </p:nvSpPr>
        <p:spPr>
          <a:xfrm>
            <a:off x="11683263" y="7893099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START TOUR</a:t>
            </a:r>
          </a:p>
        </p:txBody>
      </p:sp>
      <p:sp useBgFill="1">
        <p:nvSpPr>
          <p:cNvPr id="21" name="Rectangle: Rounded Corners 20">
            <a:hlinkHover r:id="rId11" action="ppaction://hlinksldjump" highlightClick="1"/>
            <a:extLst>
              <a:ext uri="{FF2B5EF4-FFF2-40B4-BE49-F238E27FC236}">
                <a16:creationId xmlns:a16="http://schemas.microsoft.com/office/drawing/2014/main" id="{6BEFCF00-3D19-E67C-70E3-45349E210BC1}"/>
              </a:ext>
            </a:extLst>
          </p:cNvPr>
          <p:cNvSpPr/>
          <p:nvPr/>
        </p:nvSpPr>
        <p:spPr>
          <a:xfrm>
            <a:off x="7958297" y="7456156"/>
            <a:ext cx="2730695" cy="1371601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 useBgFill="1">
        <p:nvSpPr>
          <p:cNvPr id="23" name="Rectangle: Rounded Corners 22">
            <a:hlinkHover r:id="rId12" action="ppaction://hlinksldjump" highlightClick="1"/>
            <a:extLst>
              <a:ext uri="{FF2B5EF4-FFF2-40B4-BE49-F238E27FC236}">
                <a16:creationId xmlns:a16="http://schemas.microsoft.com/office/drawing/2014/main" id="{35CF3B33-4574-76D8-73A0-5A8F95C3EEBF}"/>
              </a:ext>
            </a:extLst>
          </p:cNvPr>
          <p:cNvSpPr/>
          <p:nvPr/>
        </p:nvSpPr>
        <p:spPr>
          <a:xfrm>
            <a:off x="4870445" y="7435899"/>
            <a:ext cx="2730695" cy="1371602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A639A087-4373-2906-7BCA-F360021C9B3F}"/>
              </a:ext>
            </a:extLst>
          </p:cNvPr>
          <p:cNvSpPr txBox="1"/>
          <p:nvPr/>
        </p:nvSpPr>
        <p:spPr>
          <a:xfrm>
            <a:off x="5594525" y="7916296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LOCATION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940C16B1-049A-EB4B-96EA-33FA778220A9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F703A88A-96E3-5430-615D-21DB44BF343D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0F7EA7BC-7EA9-12FF-96F5-438ACF505AD7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9" name="Picture 2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F90902B1-D6CF-7D68-8C1B-03AD30A09E60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243" y="9410155"/>
            <a:ext cx="1028701" cy="724989"/>
          </a:xfrm>
          <a:prstGeom prst="rect">
            <a:avLst/>
          </a:prstGeom>
        </p:spPr>
      </p:pic>
      <p:sp>
        <p:nvSpPr>
          <p:cNvPr id="30" name="Freeform 24">
            <a:extLst>
              <a:ext uri="{FF2B5EF4-FFF2-40B4-BE49-F238E27FC236}">
                <a16:creationId xmlns:a16="http://schemas.microsoft.com/office/drawing/2014/main" id="{E1C42D02-8E1E-1483-36A4-AD409F605888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727772B0-06CE-E6FB-BA13-196A49772D16}"/>
              </a:ext>
            </a:extLst>
          </p:cNvPr>
          <p:cNvSpPr txBox="1"/>
          <p:nvPr/>
        </p:nvSpPr>
        <p:spPr>
          <a:xfrm>
            <a:off x="381000" y="335553"/>
            <a:ext cx="172071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D5D7DD"/>
                </a:solidFill>
                <a:latin typeface="Invitation" pitchFamily="2" charset="0"/>
                <a:ea typeface="Brittany"/>
                <a:cs typeface="Times New Roman" panose="02020603050405020304" pitchFamily="18" charset="0"/>
                <a:sym typeface="Brittany"/>
              </a:rPr>
              <a:t>Hadeel Zakaria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0FEDCF8F-D4E1-73E6-247C-79C9B1BF6514}"/>
              </a:ext>
            </a:extLst>
          </p:cNvPr>
          <p:cNvSpPr txBox="1"/>
          <p:nvPr/>
        </p:nvSpPr>
        <p:spPr>
          <a:xfrm>
            <a:off x="168948" y="735195"/>
            <a:ext cx="1243644" cy="95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8"/>
              </a:lnSpc>
              <a:spcBef>
                <a:spcPct val="0"/>
              </a:spcBef>
            </a:pPr>
            <a:r>
              <a:rPr lang="en-US" sz="563" spc="56" dirty="0">
                <a:solidFill>
                  <a:srgbClr val="D5D7DD"/>
                </a:solidFill>
                <a:latin typeface="Open Sans"/>
                <a:ea typeface="Open Sans"/>
                <a:cs typeface="Open Sans"/>
                <a:sym typeface="Open Sans"/>
              </a:rPr>
              <a:t>VISIONARY BY DESIGN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BE930006-C580-0002-0980-392B83209F5F}"/>
              </a:ext>
            </a:extLst>
          </p:cNvPr>
          <p:cNvSpPr txBox="1"/>
          <p:nvPr/>
        </p:nvSpPr>
        <p:spPr>
          <a:xfrm>
            <a:off x="8170635" y="7945331"/>
            <a:ext cx="2332982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ABOUT BEIT YAKAN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DF2219-FE8E-9E06-3B7F-118CABA3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821B2C6-6C63-94BF-CF99-A4D4DD4B1FF9}"/>
              </a:ext>
            </a:extLst>
          </p:cNvPr>
          <p:cNvSpPr/>
          <p:nvPr/>
        </p:nvSpPr>
        <p:spPr>
          <a:xfrm>
            <a:off x="143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1189371">
                <a:moveTo>
                  <a:pt x="0" y="0"/>
                </a:moveTo>
                <a:lnTo>
                  <a:pt x="18288000" y="0"/>
                </a:lnTo>
                <a:lnTo>
                  <a:pt x="18288000" y="11189371"/>
                </a:lnTo>
                <a:lnTo>
                  <a:pt x="0" y="1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14000"/>
                      </a14:imgEffect>
                    </a14:imgLayer>
                  </a14:imgProps>
                </a:ext>
              </a:extLst>
            </a:blip>
            <a:stretch>
              <a:fillRect t="-8838" b="-8838"/>
            </a:stretch>
          </a:blipFill>
          <a:effectLst>
            <a:outerShdw blurRad="50800" dist="50800" dir="5400000" algn="ctr" rotWithShape="0">
              <a:schemeClr val="tx1">
                <a:alpha val="93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A2A9907-1D2A-0B93-DE53-382483A9AF84}"/>
              </a:ext>
            </a:extLst>
          </p:cNvPr>
          <p:cNvGrpSpPr/>
          <p:nvPr/>
        </p:nvGrpSpPr>
        <p:grpSpPr>
          <a:xfrm>
            <a:off x="10256454" y="0"/>
            <a:ext cx="8041071" cy="1176053"/>
            <a:chOff x="0" y="0"/>
            <a:chExt cx="1852462" cy="2709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E224B1A-E131-01A2-3326-4F06AF00A120}"/>
                </a:ext>
              </a:extLst>
            </p:cNvPr>
            <p:cNvSpPr/>
            <p:nvPr/>
          </p:nvSpPr>
          <p:spPr>
            <a:xfrm>
              <a:off x="0" y="0"/>
              <a:ext cx="1852462" cy="270933"/>
            </a:xfrm>
            <a:custGeom>
              <a:avLst/>
              <a:gdLst/>
              <a:ahLst/>
              <a:cxnLst/>
              <a:rect l="l" t="t" r="r" b="b"/>
              <a:pathLst>
                <a:path w="1852462" h="270933">
                  <a:moveTo>
                    <a:pt x="0" y="0"/>
                  </a:moveTo>
                  <a:lnTo>
                    <a:pt x="1852462" y="0"/>
                  </a:lnTo>
                  <a:lnTo>
                    <a:pt x="185246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B5F5D290-BAE4-CA84-8071-ED6F1F5B84CD}"/>
                </a:ext>
              </a:extLst>
            </p:cNvPr>
            <p:cNvSpPr txBox="1"/>
            <p:nvPr/>
          </p:nvSpPr>
          <p:spPr>
            <a:xfrm>
              <a:off x="0" y="-38100"/>
              <a:ext cx="1852462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AE007A5B-8F72-9234-B053-B4ADC3CB5C7C}"/>
              </a:ext>
            </a:extLst>
          </p:cNvPr>
          <p:cNvSpPr/>
          <p:nvPr/>
        </p:nvSpPr>
        <p:spPr>
          <a:xfrm>
            <a:off x="17263034" y="428314"/>
            <a:ext cx="552464" cy="319425"/>
          </a:xfrm>
          <a:custGeom>
            <a:avLst/>
            <a:gdLst/>
            <a:ahLst/>
            <a:cxnLst/>
            <a:rect l="l" t="t" r="r" b="b"/>
            <a:pathLst>
              <a:path w="552464" h="319425">
                <a:moveTo>
                  <a:pt x="0" y="0"/>
                </a:moveTo>
                <a:lnTo>
                  <a:pt x="552464" y="0"/>
                </a:lnTo>
                <a:lnTo>
                  <a:pt x="552464" y="319425"/>
                </a:lnTo>
                <a:lnTo>
                  <a:pt x="0" y="319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7754664-F041-B61D-50B5-D015B70B0DF5}"/>
              </a:ext>
            </a:extLst>
          </p:cNvPr>
          <p:cNvSpPr txBox="1"/>
          <p:nvPr/>
        </p:nvSpPr>
        <p:spPr>
          <a:xfrm>
            <a:off x="1070927" y="4493783"/>
            <a:ext cx="13034800" cy="160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8"/>
              </a:lnSpc>
              <a:spcBef>
                <a:spcPct val="0"/>
              </a:spcBef>
            </a:pPr>
            <a:r>
              <a:rPr lang="en-US" sz="88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Through Beit Yakan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7AAE8BC-7EDD-C458-2D71-F74C3738AC53}"/>
              </a:ext>
            </a:extLst>
          </p:cNvPr>
          <p:cNvSpPr/>
          <p:nvPr/>
        </p:nvSpPr>
        <p:spPr>
          <a:xfrm>
            <a:off x="-83293" y="0"/>
            <a:ext cx="6342108" cy="10287000"/>
          </a:xfrm>
          <a:custGeom>
            <a:avLst/>
            <a:gdLst/>
            <a:ahLst/>
            <a:cxnLst/>
            <a:rect l="l" t="t" r="r" b="b"/>
            <a:pathLst>
              <a:path w="6244511" h="11260594">
                <a:moveTo>
                  <a:pt x="0" y="0"/>
                </a:moveTo>
                <a:lnTo>
                  <a:pt x="6244511" y="0"/>
                </a:lnTo>
                <a:lnTo>
                  <a:pt x="6244511" y="11260593"/>
                </a:lnTo>
                <a:lnTo>
                  <a:pt x="0" y="11260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80C857F-B743-B7F1-FFB2-9E060A8BF0CA}"/>
              </a:ext>
            </a:extLst>
          </p:cNvPr>
          <p:cNvSpPr/>
          <p:nvPr/>
        </p:nvSpPr>
        <p:spPr>
          <a:xfrm>
            <a:off x="14303" y="0"/>
            <a:ext cx="7034766" cy="12577729"/>
          </a:xfrm>
          <a:custGeom>
            <a:avLst/>
            <a:gdLst/>
            <a:ahLst/>
            <a:cxnLst/>
            <a:rect l="l" t="t" r="r" b="b"/>
            <a:pathLst>
              <a:path w="7034766" h="12685643">
                <a:moveTo>
                  <a:pt x="0" y="0"/>
                </a:moveTo>
                <a:lnTo>
                  <a:pt x="7034765" y="0"/>
                </a:lnTo>
                <a:lnTo>
                  <a:pt x="7034765" y="12685643"/>
                </a:lnTo>
                <a:lnTo>
                  <a:pt x="0" y="12685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C114858-44C9-DB51-7121-87260A5779F1}"/>
              </a:ext>
            </a:extLst>
          </p:cNvPr>
          <p:cNvSpPr txBox="1"/>
          <p:nvPr/>
        </p:nvSpPr>
        <p:spPr>
          <a:xfrm>
            <a:off x="1183525" y="3622883"/>
            <a:ext cx="10987868" cy="11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7"/>
              </a:lnSpc>
              <a:spcBef>
                <a:spcPct val="0"/>
              </a:spcBef>
            </a:pPr>
            <a:r>
              <a:rPr lang="en-US" sz="6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Photographic Journey </a:t>
            </a:r>
          </a:p>
        </p:txBody>
      </p:sp>
      <p:sp useBgFill="1"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DD11B6F-B241-1BE9-602C-489596A7998F}"/>
              </a:ext>
            </a:extLst>
          </p:cNvPr>
          <p:cNvSpPr/>
          <p:nvPr/>
        </p:nvSpPr>
        <p:spPr>
          <a:xfrm>
            <a:off x="11062447" y="7429500"/>
            <a:ext cx="2730695" cy="1371600"/>
          </a:xfrm>
          <a:prstGeom prst="roundRect">
            <a:avLst/>
          </a:prstGeom>
          <a:ln>
            <a:noFill/>
          </a:ln>
          <a:effectLst>
            <a:innerShdw blurRad="1397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7EC1E2E3-A4CA-D13E-D485-10BB92C4C2E8}"/>
              </a:ext>
            </a:extLst>
          </p:cNvPr>
          <p:cNvSpPr txBox="1"/>
          <p:nvPr/>
        </p:nvSpPr>
        <p:spPr>
          <a:xfrm>
            <a:off x="11670810" y="7886700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START TOUR</a:t>
            </a:r>
          </a:p>
        </p:txBody>
      </p:sp>
      <p:sp useBgFill="1">
        <p:nvSpPr>
          <p:cNvPr id="21" name="Rectangle: Rounded Corners 20">
            <a:hlinkHover r:id="rId10" action="ppaction://hlinksldjump" highlightClick="1"/>
            <a:extLst>
              <a:ext uri="{FF2B5EF4-FFF2-40B4-BE49-F238E27FC236}">
                <a16:creationId xmlns:a16="http://schemas.microsoft.com/office/drawing/2014/main" id="{BB91EE9E-F9C3-BA6C-B2F8-E76003529D43}"/>
              </a:ext>
            </a:extLst>
          </p:cNvPr>
          <p:cNvSpPr/>
          <p:nvPr/>
        </p:nvSpPr>
        <p:spPr>
          <a:xfrm>
            <a:off x="7893034" y="7449757"/>
            <a:ext cx="2730695" cy="1371601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 useBgFill="1">
        <p:nvSpPr>
          <p:cNvPr id="23" name="Rectangle: Rounded Corners 22">
            <a:hlinkClick r:id="rId11" action="ppaction://hlinksldjump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9863A912-1A76-6C1D-7692-9D9883D12B8F}"/>
              </a:ext>
            </a:extLst>
          </p:cNvPr>
          <p:cNvSpPr/>
          <p:nvPr/>
        </p:nvSpPr>
        <p:spPr>
          <a:xfrm>
            <a:off x="4227838" y="6968909"/>
            <a:ext cx="3308040" cy="2144729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671BDF88-8896-12C7-542F-0587D020470B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97A8590F-158C-2111-1B1A-E529295C43DA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5EE57002-8720-FB6F-4D88-A2A3BCFF459F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9" name="Picture 2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502929DA-2428-ADAF-D7FB-047E2EAFB983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243" y="9410155"/>
            <a:ext cx="1028701" cy="724989"/>
          </a:xfrm>
          <a:prstGeom prst="rect">
            <a:avLst/>
          </a:prstGeom>
        </p:spPr>
      </p:pic>
      <p:sp>
        <p:nvSpPr>
          <p:cNvPr id="30" name="Freeform 24">
            <a:extLst>
              <a:ext uri="{FF2B5EF4-FFF2-40B4-BE49-F238E27FC236}">
                <a16:creationId xmlns:a16="http://schemas.microsoft.com/office/drawing/2014/main" id="{8FDE569B-040F-9CE6-4539-E63BAE9D92B9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D66F6991-10F2-3AB1-4B9F-440BCA1C3C4E}"/>
              </a:ext>
            </a:extLst>
          </p:cNvPr>
          <p:cNvSpPr txBox="1"/>
          <p:nvPr/>
        </p:nvSpPr>
        <p:spPr>
          <a:xfrm>
            <a:off x="381000" y="335553"/>
            <a:ext cx="172071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D5D7DD"/>
                </a:solidFill>
                <a:latin typeface="Invitation" pitchFamily="2" charset="0"/>
                <a:ea typeface="Brittany"/>
                <a:cs typeface="Times New Roman" panose="02020603050405020304" pitchFamily="18" charset="0"/>
                <a:sym typeface="Brittany"/>
              </a:rPr>
              <a:t>Hadeel Zakaria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3FE58A42-5D28-3033-608A-1463A4CD633B}"/>
              </a:ext>
            </a:extLst>
          </p:cNvPr>
          <p:cNvSpPr txBox="1"/>
          <p:nvPr/>
        </p:nvSpPr>
        <p:spPr>
          <a:xfrm>
            <a:off x="168948" y="735195"/>
            <a:ext cx="1243644" cy="95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8"/>
              </a:lnSpc>
              <a:spcBef>
                <a:spcPct val="0"/>
              </a:spcBef>
            </a:pPr>
            <a:r>
              <a:rPr lang="en-US" sz="563" spc="56" dirty="0">
                <a:solidFill>
                  <a:srgbClr val="D5D7DD"/>
                </a:solidFill>
                <a:latin typeface="Open Sans"/>
                <a:ea typeface="Open Sans"/>
                <a:cs typeface="Open Sans"/>
                <a:sym typeface="Open Sans"/>
              </a:rPr>
              <a:t>VISIONARY BY DESIGN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28151597-14F9-9195-FB2D-88812F6BAFFF}"/>
              </a:ext>
            </a:extLst>
          </p:cNvPr>
          <p:cNvSpPr txBox="1"/>
          <p:nvPr/>
        </p:nvSpPr>
        <p:spPr>
          <a:xfrm>
            <a:off x="8153308" y="7886700"/>
            <a:ext cx="2332982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ABOUT BEIT YAKAN</a:t>
            </a:r>
          </a:p>
        </p:txBody>
      </p:sp>
      <p:sp>
        <p:nvSpPr>
          <p:cNvPr id="34" name="TextBox 15">
            <a:extLst>
              <a:ext uri="{FF2B5EF4-FFF2-40B4-BE49-F238E27FC236}">
                <a16:creationId xmlns:a16="http://schemas.microsoft.com/office/drawing/2014/main" id="{F382A6D5-4DD2-D2B9-5A8E-A41A37CFBC89}"/>
              </a:ext>
            </a:extLst>
          </p:cNvPr>
          <p:cNvSpPr txBox="1"/>
          <p:nvPr/>
        </p:nvSpPr>
        <p:spPr>
          <a:xfrm>
            <a:off x="5212491" y="7078700"/>
            <a:ext cx="2086193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LOCATION</a:t>
            </a:r>
          </a:p>
        </p:txBody>
      </p:sp>
      <p:pic>
        <p:nvPicPr>
          <p:cNvPr id="35" name="Picture 34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E18CF5D8-BC87-C01A-8C74-CA05CB25894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2855" y="7553457"/>
            <a:ext cx="2236004" cy="1257752"/>
          </a:xfrm>
          <a:prstGeom prst="rect">
            <a:avLst/>
          </a:prstGeom>
        </p:spPr>
      </p:pic>
      <p:sp>
        <p:nvSpPr>
          <p:cNvPr id="16" name="TextBox 9">
            <a:extLst>
              <a:ext uri="{FF2B5EF4-FFF2-40B4-BE49-F238E27FC236}">
                <a16:creationId xmlns:a16="http://schemas.microsoft.com/office/drawing/2014/main" id="{361717AB-4C4E-803A-5A6B-D24BC13CBEB0}"/>
              </a:ext>
            </a:extLst>
          </p:cNvPr>
          <p:cNvSpPr txBox="1"/>
          <p:nvPr/>
        </p:nvSpPr>
        <p:spPr>
          <a:xfrm>
            <a:off x="15986760" y="459504"/>
            <a:ext cx="1118617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Spring 26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5BC2382F-04B1-439D-2802-2DAEB2B5C052}"/>
              </a:ext>
            </a:extLst>
          </p:cNvPr>
          <p:cNvSpPr txBox="1"/>
          <p:nvPr/>
        </p:nvSpPr>
        <p:spPr>
          <a:xfrm>
            <a:off x="12526454" y="457177"/>
            <a:ext cx="3475546" cy="228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Architectural Photographic Techniques</a:t>
            </a:r>
          </a:p>
        </p:txBody>
      </p:sp>
      <p:sp>
        <p:nvSpPr>
          <p:cNvPr id="24" name="TextBox 12">
            <a:extLst>
              <a:ext uri="{FF2B5EF4-FFF2-40B4-BE49-F238E27FC236}">
                <a16:creationId xmlns:a16="http://schemas.microsoft.com/office/drawing/2014/main" id="{21F4E2F9-D9B4-DCEF-3D22-DA372198ACED}"/>
              </a:ext>
            </a:extLst>
          </p:cNvPr>
          <p:cNvSpPr txBox="1"/>
          <p:nvPr/>
        </p:nvSpPr>
        <p:spPr>
          <a:xfrm>
            <a:off x="11090816" y="457177"/>
            <a:ext cx="925752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ASE 4534</a:t>
            </a:r>
          </a:p>
        </p:txBody>
      </p:sp>
      <p:sp>
        <p:nvSpPr>
          <p:cNvPr id="25" name="TextBox 15">
            <a:extLst>
              <a:ext uri="{FF2B5EF4-FFF2-40B4-BE49-F238E27FC236}">
                <a16:creationId xmlns:a16="http://schemas.microsoft.com/office/drawing/2014/main" id="{EFB84E9F-9028-FECB-300B-AF4319D07B91}"/>
              </a:ext>
            </a:extLst>
          </p:cNvPr>
          <p:cNvSpPr txBox="1"/>
          <p:nvPr/>
        </p:nvSpPr>
        <p:spPr>
          <a:xfrm>
            <a:off x="1338350" y="6139657"/>
            <a:ext cx="10678218" cy="85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 Sequential Exploration of Space and Atmosphere</a:t>
            </a:r>
          </a:p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By: Hadeel Zakaria 220009</a:t>
            </a:r>
          </a:p>
        </p:txBody>
      </p:sp>
    </p:spTree>
    <p:extLst>
      <p:ext uri="{BB962C8B-B14F-4D97-AF65-F5344CB8AC3E}">
        <p14:creationId xmlns:p14="http://schemas.microsoft.com/office/powerpoint/2010/main" val="30477717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93D311-2F54-1D23-08C7-7632739A9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8C34598-0EDF-E5D5-DB0F-5C42239B9970}"/>
              </a:ext>
            </a:extLst>
          </p:cNvPr>
          <p:cNvSpPr/>
          <p:nvPr/>
        </p:nvSpPr>
        <p:spPr>
          <a:xfrm>
            <a:off x="143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1189371">
                <a:moveTo>
                  <a:pt x="0" y="0"/>
                </a:moveTo>
                <a:lnTo>
                  <a:pt x="18288000" y="0"/>
                </a:lnTo>
                <a:lnTo>
                  <a:pt x="18288000" y="11189371"/>
                </a:lnTo>
                <a:lnTo>
                  <a:pt x="0" y="1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14000"/>
                      </a14:imgEffect>
                    </a14:imgLayer>
                  </a14:imgProps>
                </a:ext>
              </a:extLst>
            </a:blip>
            <a:stretch>
              <a:fillRect t="-8838" b="-8838"/>
            </a:stretch>
          </a:blipFill>
          <a:effectLst>
            <a:outerShdw blurRad="50800" dist="50800" dir="5400000" algn="ctr" rotWithShape="0">
              <a:schemeClr val="tx1">
                <a:alpha val="93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C82C580-189D-F27E-A60C-6EB2E2B588F1}"/>
              </a:ext>
            </a:extLst>
          </p:cNvPr>
          <p:cNvGrpSpPr/>
          <p:nvPr/>
        </p:nvGrpSpPr>
        <p:grpSpPr>
          <a:xfrm>
            <a:off x="10256454" y="0"/>
            <a:ext cx="8041071" cy="1176053"/>
            <a:chOff x="0" y="0"/>
            <a:chExt cx="1852462" cy="2709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A8D5D3F-E93E-56B5-EE53-C6789B38D690}"/>
                </a:ext>
              </a:extLst>
            </p:cNvPr>
            <p:cNvSpPr/>
            <p:nvPr/>
          </p:nvSpPr>
          <p:spPr>
            <a:xfrm>
              <a:off x="0" y="0"/>
              <a:ext cx="1852462" cy="270933"/>
            </a:xfrm>
            <a:custGeom>
              <a:avLst/>
              <a:gdLst/>
              <a:ahLst/>
              <a:cxnLst/>
              <a:rect l="l" t="t" r="r" b="b"/>
              <a:pathLst>
                <a:path w="1852462" h="270933">
                  <a:moveTo>
                    <a:pt x="0" y="0"/>
                  </a:moveTo>
                  <a:lnTo>
                    <a:pt x="1852462" y="0"/>
                  </a:lnTo>
                  <a:lnTo>
                    <a:pt x="185246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D086590-FC0D-4EEA-907A-3E685E52A694}"/>
                </a:ext>
              </a:extLst>
            </p:cNvPr>
            <p:cNvSpPr txBox="1"/>
            <p:nvPr/>
          </p:nvSpPr>
          <p:spPr>
            <a:xfrm>
              <a:off x="0" y="-38100"/>
              <a:ext cx="1852462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B023D9A4-8CD4-0081-F2CD-541E141FCAD2}"/>
              </a:ext>
            </a:extLst>
          </p:cNvPr>
          <p:cNvSpPr/>
          <p:nvPr/>
        </p:nvSpPr>
        <p:spPr>
          <a:xfrm>
            <a:off x="17263034" y="428314"/>
            <a:ext cx="552464" cy="319425"/>
          </a:xfrm>
          <a:custGeom>
            <a:avLst/>
            <a:gdLst/>
            <a:ahLst/>
            <a:cxnLst/>
            <a:rect l="l" t="t" r="r" b="b"/>
            <a:pathLst>
              <a:path w="552464" h="319425">
                <a:moveTo>
                  <a:pt x="0" y="0"/>
                </a:moveTo>
                <a:lnTo>
                  <a:pt x="552464" y="0"/>
                </a:lnTo>
                <a:lnTo>
                  <a:pt x="552464" y="319425"/>
                </a:lnTo>
                <a:lnTo>
                  <a:pt x="0" y="319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E911462-F2A2-E814-25AC-4F1507B88290}"/>
              </a:ext>
            </a:extLst>
          </p:cNvPr>
          <p:cNvSpPr txBox="1"/>
          <p:nvPr/>
        </p:nvSpPr>
        <p:spPr>
          <a:xfrm>
            <a:off x="1070927" y="4493783"/>
            <a:ext cx="13034800" cy="160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8"/>
              </a:lnSpc>
              <a:spcBef>
                <a:spcPct val="0"/>
              </a:spcBef>
            </a:pPr>
            <a:r>
              <a:rPr lang="en-US" sz="88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Through Beit Yakan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944072B-7907-97E7-E653-D27FECCB5F53}"/>
              </a:ext>
            </a:extLst>
          </p:cNvPr>
          <p:cNvSpPr/>
          <p:nvPr/>
        </p:nvSpPr>
        <p:spPr>
          <a:xfrm>
            <a:off x="-83293" y="0"/>
            <a:ext cx="6342108" cy="10287000"/>
          </a:xfrm>
          <a:custGeom>
            <a:avLst/>
            <a:gdLst/>
            <a:ahLst/>
            <a:cxnLst/>
            <a:rect l="l" t="t" r="r" b="b"/>
            <a:pathLst>
              <a:path w="6244511" h="11260594">
                <a:moveTo>
                  <a:pt x="0" y="0"/>
                </a:moveTo>
                <a:lnTo>
                  <a:pt x="6244511" y="0"/>
                </a:lnTo>
                <a:lnTo>
                  <a:pt x="6244511" y="11260593"/>
                </a:lnTo>
                <a:lnTo>
                  <a:pt x="0" y="11260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339D15F-AB7D-8241-89DF-6894F17BA28F}"/>
              </a:ext>
            </a:extLst>
          </p:cNvPr>
          <p:cNvSpPr/>
          <p:nvPr/>
        </p:nvSpPr>
        <p:spPr>
          <a:xfrm>
            <a:off x="14303" y="0"/>
            <a:ext cx="7034766" cy="12577729"/>
          </a:xfrm>
          <a:custGeom>
            <a:avLst/>
            <a:gdLst/>
            <a:ahLst/>
            <a:cxnLst/>
            <a:rect l="l" t="t" r="r" b="b"/>
            <a:pathLst>
              <a:path w="7034766" h="12685643">
                <a:moveTo>
                  <a:pt x="0" y="0"/>
                </a:moveTo>
                <a:lnTo>
                  <a:pt x="7034765" y="0"/>
                </a:lnTo>
                <a:lnTo>
                  <a:pt x="7034765" y="12685643"/>
                </a:lnTo>
                <a:lnTo>
                  <a:pt x="0" y="12685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F3F2425-2BA5-3F84-A784-0073D4E16872}"/>
              </a:ext>
            </a:extLst>
          </p:cNvPr>
          <p:cNvSpPr txBox="1"/>
          <p:nvPr/>
        </p:nvSpPr>
        <p:spPr>
          <a:xfrm>
            <a:off x="1183525" y="3622883"/>
            <a:ext cx="10987868" cy="11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7"/>
              </a:lnSpc>
              <a:spcBef>
                <a:spcPct val="0"/>
              </a:spcBef>
            </a:pPr>
            <a:r>
              <a:rPr lang="en-US" sz="6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Photographic Journey </a:t>
            </a:r>
          </a:p>
        </p:txBody>
      </p:sp>
      <p:sp useBgFill="1">
        <p:nvSpPr>
          <p:cNvPr id="17" name="Rectangle: Rounded Corners 16">
            <a:hlinkHover r:id="rId10" action="ppaction://hlinksldjump" highlightClick="1"/>
            <a:extLst>
              <a:ext uri="{FF2B5EF4-FFF2-40B4-BE49-F238E27FC236}">
                <a16:creationId xmlns:a16="http://schemas.microsoft.com/office/drawing/2014/main" id="{ABB32C77-FD79-FA3F-62E1-25EADA762B5F}"/>
              </a:ext>
            </a:extLst>
          </p:cNvPr>
          <p:cNvSpPr/>
          <p:nvPr/>
        </p:nvSpPr>
        <p:spPr>
          <a:xfrm>
            <a:off x="11203068" y="7429500"/>
            <a:ext cx="2730695" cy="1371600"/>
          </a:xfrm>
          <a:prstGeom prst="roundRect">
            <a:avLst/>
          </a:prstGeom>
          <a:ln>
            <a:noFill/>
          </a:ln>
          <a:effectLst>
            <a:innerShdw blurRad="1397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BE9BBE3B-E536-45CE-8D5E-1F88CE3C65D8}"/>
              </a:ext>
            </a:extLst>
          </p:cNvPr>
          <p:cNvSpPr txBox="1"/>
          <p:nvPr/>
        </p:nvSpPr>
        <p:spPr>
          <a:xfrm>
            <a:off x="11811431" y="7886700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START TOUR</a:t>
            </a:r>
          </a:p>
        </p:txBody>
      </p:sp>
      <p:sp useBgFill="1">
        <p:nvSpPr>
          <p:cNvPr id="23" name="Rectangle: Rounded Corners 22">
            <a:hlinkHover r:id="rId11" action="ppaction://hlinksldjump" highlightClick="1"/>
            <a:extLst>
              <a:ext uri="{FF2B5EF4-FFF2-40B4-BE49-F238E27FC236}">
                <a16:creationId xmlns:a16="http://schemas.microsoft.com/office/drawing/2014/main" id="{799E12D3-8E0A-5C91-433C-D66C9CF89E8A}"/>
              </a:ext>
            </a:extLst>
          </p:cNvPr>
          <p:cNvSpPr/>
          <p:nvPr/>
        </p:nvSpPr>
        <p:spPr>
          <a:xfrm>
            <a:off x="4930563" y="7429500"/>
            <a:ext cx="2730695" cy="1371602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A43941D3-E43A-6C40-12A2-CED17C8B5A2F}"/>
              </a:ext>
            </a:extLst>
          </p:cNvPr>
          <p:cNvSpPr txBox="1"/>
          <p:nvPr/>
        </p:nvSpPr>
        <p:spPr>
          <a:xfrm>
            <a:off x="5654643" y="7909897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LOCATION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914FB14D-794E-380D-8600-D56AFFEE760A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CCB81A76-790C-250C-CFF6-438E767BB34A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62CEB9F0-9B00-064F-A868-AA3B616EC974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9" name="Picture 2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19E501AD-8AD5-AF3B-AE3F-5EB045720679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243" y="9410155"/>
            <a:ext cx="1028701" cy="724989"/>
          </a:xfrm>
          <a:prstGeom prst="rect">
            <a:avLst/>
          </a:prstGeom>
        </p:spPr>
      </p:pic>
      <p:sp>
        <p:nvSpPr>
          <p:cNvPr id="30" name="Freeform 24">
            <a:extLst>
              <a:ext uri="{FF2B5EF4-FFF2-40B4-BE49-F238E27FC236}">
                <a16:creationId xmlns:a16="http://schemas.microsoft.com/office/drawing/2014/main" id="{B086D7A8-1BB1-F40E-0A2B-E2AE6D1D1C52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6889ED38-C82D-069C-38FB-9F8DBE9EF241}"/>
              </a:ext>
            </a:extLst>
          </p:cNvPr>
          <p:cNvSpPr txBox="1"/>
          <p:nvPr/>
        </p:nvSpPr>
        <p:spPr>
          <a:xfrm>
            <a:off x="381000" y="335553"/>
            <a:ext cx="172071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D5D7DD"/>
                </a:solidFill>
                <a:latin typeface="Invitation" pitchFamily="2" charset="0"/>
                <a:ea typeface="Brittany"/>
                <a:cs typeface="Times New Roman" panose="02020603050405020304" pitchFamily="18" charset="0"/>
                <a:sym typeface="Brittany"/>
              </a:rPr>
              <a:t>Hadeel Zakaria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1269E81D-57C6-3F52-98CA-84EE239553A5}"/>
              </a:ext>
            </a:extLst>
          </p:cNvPr>
          <p:cNvSpPr txBox="1"/>
          <p:nvPr/>
        </p:nvSpPr>
        <p:spPr>
          <a:xfrm>
            <a:off x="168948" y="735195"/>
            <a:ext cx="1243644" cy="95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8"/>
              </a:lnSpc>
              <a:spcBef>
                <a:spcPct val="0"/>
              </a:spcBef>
            </a:pPr>
            <a:r>
              <a:rPr lang="en-US" sz="563" spc="56" dirty="0">
                <a:solidFill>
                  <a:srgbClr val="D5D7DD"/>
                </a:solidFill>
                <a:latin typeface="Open Sans"/>
                <a:ea typeface="Open Sans"/>
                <a:cs typeface="Open Sans"/>
                <a:sym typeface="Open Sans"/>
              </a:rPr>
              <a:t>VISIONARY BY DESIGN</a:t>
            </a:r>
          </a:p>
        </p:txBody>
      </p:sp>
      <p:sp useBgFill="1">
        <p:nvSpPr>
          <p:cNvPr id="16" name="Rectangle: Rounded Corners 15">
            <a:hlinkClick r:id="rId15" action="ppaction://hlinksldjump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F9791CA7-7DC0-83DA-CA55-F910E226F00B}"/>
              </a:ext>
            </a:extLst>
          </p:cNvPr>
          <p:cNvSpPr/>
          <p:nvPr/>
        </p:nvSpPr>
        <p:spPr>
          <a:xfrm>
            <a:off x="7758929" y="6968909"/>
            <a:ext cx="3308040" cy="2144729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5E8DB272-90F2-60AC-06F8-C5A345F0E713}"/>
              </a:ext>
            </a:extLst>
          </p:cNvPr>
          <p:cNvSpPr txBox="1"/>
          <p:nvPr/>
        </p:nvSpPr>
        <p:spPr>
          <a:xfrm>
            <a:off x="15986760" y="459504"/>
            <a:ext cx="1118617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Spring 26</a:t>
            </a:r>
          </a:p>
        </p:txBody>
      </p:sp>
      <p:sp>
        <p:nvSpPr>
          <p:cNvPr id="22" name="TextBox 11">
            <a:extLst>
              <a:ext uri="{FF2B5EF4-FFF2-40B4-BE49-F238E27FC236}">
                <a16:creationId xmlns:a16="http://schemas.microsoft.com/office/drawing/2014/main" id="{9DCEB533-44BC-FB1A-B155-92918E2258E8}"/>
              </a:ext>
            </a:extLst>
          </p:cNvPr>
          <p:cNvSpPr txBox="1"/>
          <p:nvPr/>
        </p:nvSpPr>
        <p:spPr>
          <a:xfrm>
            <a:off x="12526454" y="457177"/>
            <a:ext cx="3475546" cy="228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Architectural Photographic Techniques</a:t>
            </a:r>
          </a:p>
        </p:txBody>
      </p:sp>
      <p:sp>
        <p:nvSpPr>
          <p:cNvPr id="25" name="TextBox 12">
            <a:extLst>
              <a:ext uri="{FF2B5EF4-FFF2-40B4-BE49-F238E27FC236}">
                <a16:creationId xmlns:a16="http://schemas.microsoft.com/office/drawing/2014/main" id="{75151463-8956-B0F3-8157-DBF0F417F538}"/>
              </a:ext>
            </a:extLst>
          </p:cNvPr>
          <p:cNvSpPr txBox="1"/>
          <p:nvPr/>
        </p:nvSpPr>
        <p:spPr>
          <a:xfrm>
            <a:off x="11090816" y="457177"/>
            <a:ext cx="925752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ASE 4534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C51B09B0-A09C-D6A3-67D5-B6EAF3FADA7D}"/>
              </a:ext>
            </a:extLst>
          </p:cNvPr>
          <p:cNvSpPr txBox="1"/>
          <p:nvPr/>
        </p:nvSpPr>
        <p:spPr>
          <a:xfrm>
            <a:off x="1338350" y="6139657"/>
            <a:ext cx="10678218" cy="85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 Sequential Exploration of Space and Atmosphere</a:t>
            </a:r>
          </a:p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By: Hadeel Zakaria 220009</a:t>
            </a:r>
          </a:p>
        </p:txBody>
      </p:sp>
    </p:spTree>
    <p:extLst>
      <p:ext uri="{BB962C8B-B14F-4D97-AF65-F5344CB8AC3E}">
        <p14:creationId xmlns:p14="http://schemas.microsoft.com/office/powerpoint/2010/main" val="16751933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D4C3EF-9AC5-3AF4-FE4F-92809AA1D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C25AF99-5F21-5924-D164-A5B1B699F124}"/>
              </a:ext>
            </a:extLst>
          </p:cNvPr>
          <p:cNvSpPr/>
          <p:nvPr/>
        </p:nvSpPr>
        <p:spPr>
          <a:xfrm>
            <a:off x="143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1189371">
                <a:moveTo>
                  <a:pt x="0" y="0"/>
                </a:moveTo>
                <a:lnTo>
                  <a:pt x="18288000" y="0"/>
                </a:lnTo>
                <a:lnTo>
                  <a:pt x="18288000" y="11189371"/>
                </a:lnTo>
                <a:lnTo>
                  <a:pt x="0" y="1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14000"/>
                      </a14:imgEffect>
                    </a14:imgLayer>
                  </a14:imgProps>
                </a:ext>
              </a:extLst>
            </a:blip>
            <a:stretch>
              <a:fillRect t="-8838" b="-8838"/>
            </a:stretch>
          </a:blipFill>
          <a:effectLst>
            <a:outerShdw blurRad="50800" dist="50800" dir="5400000" algn="ctr" rotWithShape="0">
              <a:schemeClr val="tx1">
                <a:alpha val="93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5B0064F4-F8F3-5002-045C-FD576F3E501D}"/>
              </a:ext>
            </a:extLst>
          </p:cNvPr>
          <p:cNvGrpSpPr/>
          <p:nvPr/>
        </p:nvGrpSpPr>
        <p:grpSpPr>
          <a:xfrm>
            <a:off x="10256454" y="0"/>
            <a:ext cx="8041071" cy="1176053"/>
            <a:chOff x="0" y="0"/>
            <a:chExt cx="1852462" cy="2709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0D32D8-20AD-6E15-B8C9-24D3F76AD0E9}"/>
                </a:ext>
              </a:extLst>
            </p:cNvPr>
            <p:cNvSpPr/>
            <p:nvPr/>
          </p:nvSpPr>
          <p:spPr>
            <a:xfrm>
              <a:off x="0" y="0"/>
              <a:ext cx="1852462" cy="270933"/>
            </a:xfrm>
            <a:custGeom>
              <a:avLst/>
              <a:gdLst/>
              <a:ahLst/>
              <a:cxnLst/>
              <a:rect l="l" t="t" r="r" b="b"/>
              <a:pathLst>
                <a:path w="1852462" h="270933">
                  <a:moveTo>
                    <a:pt x="0" y="0"/>
                  </a:moveTo>
                  <a:lnTo>
                    <a:pt x="1852462" y="0"/>
                  </a:lnTo>
                  <a:lnTo>
                    <a:pt x="185246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187076F-688A-F288-B2E7-CCB0904AE927}"/>
                </a:ext>
              </a:extLst>
            </p:cNvPr>
            <p:cNvSpPr txBox="1"/>
            <p:nvPr/>
          </p:nvSpPr>
          <p:spPr>
            <a:xfrm>
              <a:off x="0" y="-38100"/>
              <a:ext cx="1852462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95E21A9D-28CF-F54C-BFB6-6CD175D47B02}"/>
              </a:ext>
            </a:extLst>
          </p:cNvPr>
          <p:cNvSpPr/>
          <p:nvPr/>
        </p:nvSpPr>
        <p:spPr>
          <a:xfrm>
            <a:off x="17263034" y="428314"/>
            <a:ext cx="552464" cy="319425"/>
          </a:xfrm>
          <a:custGeom>
            <a:avLst/>
            <a:gdLst/>
            <a:ahLst/>
            <a:cxnLst/>
            <a:rect l="l" t="t" r="r" b="b"/>
            <a:pathLst>
              <a:path w="552464" h="319425">
                <a:moveTo>
                  <a:pt x="0" y="0"/>
                </a:moveTo>
                <a:lnTo>
                  <a:pt x="552464" y="0"/>
                </a:lnTo>
                <a:lnTo>
                  <a:pt x="552464" y="319425"/>
                </a:lnTo>
                <a:lnTo>
                  <a:pt x="0" y="319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6C45F8F-CE0E-BDC7-FF32-7480381490E5}"/>
              </a:ext>
            </a:extLst>
          </p:cNvPr>
          <p:cNvSpPr txBox="1"/>
          <p:nvPr/>
        </p:nvSpPr>
        <p:spPr>
          <a:xfrm>
            <a:off x="1070927" y="4493783"/>
            <a:ext cx="13034800" cy="160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8"/>
              </a:lnSpc>
              <a:spcBef>
                <a:spcPct val="0"/>
              </a:spcBef>
            </a:pPr>
            <a:r>
              <a:rPr lang="en-US" sz="88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Through Beit Yakan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AF36FA-6570-E6E2-1D25-DE6BF03C7ED6}"/>
              </a:ext>
            </a:extLst>
          </p:cNvPr>
          <p:cNvSpPr/>
          <p:nvPr/>
        </p:nvSpPr>
        <p:spPr>
          <a:xfrm>
            <a:off x="-83293" y="0"/>
            <a:ext cx="6342108" cy="10287000"/>
          </a:xfrm>
          <a:custGeom>
            <a:avLst/>
            <a:gdLst/>
            <a:ahLst/>
            <a:cxnLst/>
            <a:rect l="l" t="t" r="r" b="b"/>
            <a:pathLst>
              <a:path w="6244511" h="11260594">
                <a:moveTo>
                  <a:pt x="0" y="0"/>
                </a:moveTo>
                <a:lnTo>
                  <a:pt x="6244511" y="0"/>
                </a:lnTo>
                <a:lnTo>
                  <a:pt x="6244511" y="11260593"/>
                </a:lnTo>
                <a:lnTo>
                  <a:pt x="0" y="11260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F0F9E15-1A33-CDBF-B678-6760836C31E9}"/>
              </a:ext>
            </a:extLst>
          </p:cNvPr>
          <p:cNvSpPr/>
          <p:nvPr/>
        </p:nvSpPr>
        <p:spPr>
          <a:xfrm>
            <a:off x="14303" y="0"/>
            <a:ext cx="7034766" cy="12577729"/>
          </a:xfrm>
          <a:custGeom>
            <a:avLst/>
            <a:gdLst/>
            <a:ahLst/>
            <a:cxnLst/>
            <a:rect l="l" t="t" r="r" b="b"/>
            <a:pathLst>
              <a:path w="7034766" h="12685643">
                <a:moveTo>
                  <a:pt x="0" y="0"/>
                </a:moveTo>
                <a:lnTo>
                  <a:pt x="7034765" y="0"/>
                </a:lnTo>
                <a:lnTo>
                  <a:pt x="7034765" y="12685643"/>
                </a:lnTo>
                <a:lnTo>
                  <a:pt x="0" y="12685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11123E3-148B-1368-8D7F-B881805385CA}"/>
              </a:ext>
            </a:extLst>
          </p:cNvPr>
          <p:cNvSpPr txBox="1"/>
          <p:nvPr/>
        </p:nvSpPr>
        <p:spPr>
          <a:xfrm>
            <a:off x="1183525" y="3622883"/>
            <a:ext cx="10987868" cy="11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7"/>
              </a:lnSpc>
              <a:spcBef>
                <a:spcPct val="0"/>
              </a:spcBef>
            </a:pPr>
            <a:r>
              <a:rPr lang="en-US" sz="6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Photographic Journey </a:t>
            </a:r>
          </a:p>
        </p:txBody>
      </p:sp>
      <p:sp useBgFill="1">
        <p:nvSpPr>
          <p:cNvPr id="17" name="Rectangle: Rounded Corners 16">
            <a:hlinkHover r:id="rId10" action="ppaction://hlinksldjump" highlightClick="1"/>
            <a:extLst>
              <a:ext uri="{FF2B5EF4-FFF2-40B4-BE49-F238E27FC236}">
                <a16:creationId xmlns:a16="http://schemas.microsoft.com/office/drawing/2014/main" id="{D2869E38-87FC-953B-02C8-3B0A3405351A}"/>
              </a:ext>
            </a:extLst>
          </p:cNvPr>
          <p:cNvSpPr/>
          <p:nvPr/>
        </p:nvSpPr>
        <p:spPr>
          <a:xfrm>
            <a:off x="11106810" y="7429500"/>
            <a:ext cx="2730695" cy="1371600"/>
          </a:xfrm>
          <a:prstGeom prst="roundRect">
            <a:avLst/>
          </a:prstGeom>
          <a:ln>
            <a:noFill/>
          </a:ln>
          <a:effectLst>
            <a:innerShdw blurRad="1397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592FA87A-B451-2E81-87F9-6F361EFD8B34}"/>
              </a:ext>
            </a:extLst>
          </p:cNvPr>
          <p:cNvSpPr txBox="1"/>
          <p:nvPr/>
        </p:nvSpPr>
        <p:spPr>
          <a:xfrm>
            <a:off x="11715173" y="7886700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START TOUR</a:t>
            </a:r>
          </a:p>
        </p:txBody>
      </p:sp>
      <p:sp useBgFill="1">
        <p:nvSpPr>
          <p:cNvPr id="23" name="Rectangle: Rounded Corners 22">
            <a:hlinkHover r:id="rId11" action="ppaction://hlinksldjump" highlightClick="1"/>
            <a:extLst>
              <a:ext uri="{FF2B5EF4-FFF2-40B4-BE49-F238E27FC236}">
                <a16:creationId xmlns:a16="http://schemas.microsoft.com/office/drawing/2014/main" id="{F3DD830F-D7DF-F444-7925-87E1D151E89F}"/>
              </a:ext>
            </a:extLst>
          </p:cNvPr>
          <p:cNvSpPr/>
          <p:nvPr/>
        </p:nvSpPr>
        <p:spPr>
          <a:xfrm>
            <a:off x="4823883" y="7429500"/>
            <a:ext cx="2730695" cy="1371602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99221C5E-C666-A086-EB84-36D1272FD100}"/>
              </a:ext>
            </a:extLst>
          </p:cNvPr>
          <p:cNvSpPr txBox="1"/>
          <p:nvPr/>
        </p:nvSpPr>
        <p:spPr>
          <a:xfrm>
            <a:off x="5547963" y="7909897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LOCATION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6C5221CA-0DE0-F59B-158E-B2550747648F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4544C0EB-32B5-A1C1-F92E-8739AD7990E4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188D1CB4-AC38-9369-877E-6968236D0DA0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9" name="Picture 2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EA8979D1-DC96-584F-4C53-9ED8819A11FE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243" y="9410155"/>
            <a:ext cx="1028701" cy="724989"/>
          </a:xfrm>
          <a:prstGeom prst="rect">
            <a:avLst/>
          </a:prstGeom>
        </p:spPr>
      </p:pic>
      <p:sp>
        <p:nvSpPr>
          <p:cNvPr id="30" name="Freeform 24">
            <a:extLst>
              <a:ext uri="{FF2B5EF4-FFF2-40B4-BE49-F238E27FC236}">
                <a16:creationId xmlns:a16="http://schemas.microsoft.com/office/drawing/2014/main" id="{2CCA42E0-2E06-1D9E-4CD0-206E07E45CCA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139C7184-2091-F8A3-AD39-DCFFDFDADBC9}"/>
              </a:ext>
            </a:extLst>
          </p:cNvPr>
          <p:cNvSpPr txBox="1"/>
          <p:nvPr/>
        </p:nvSpPr>
        <p:spPr>
          <a:xfrm>
            <a:off x="381000" y="335553"/>
            <a:ext cx="172071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D5D7DD"/>
                </a:solidFill>
                <a:latin typeface="Invitation" pitchFamily="2" charset="0"/>
                <a:ea typeface="Brittany"/>
                <a:cs typeface="Times New Roman" panose="02020603050405020304" pitchFamily="18" charset="0"/>
                <a:sym typeface="Brittany"/>
              </a:rPr>
              <a:t>Hadeel Zakaria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58F652F9-A338-5F26-E068-9ADA91FE7647}"/>
              </a:ext>
            </a:extLst>
          </p:cNvPr>
          <p:cNvSpPr txBox="1"/>
          <p:nvPr/>
        </p:nvSpPr>
        <p:spPr>
          <a:xfrm>
            <a:off x="168948" y="735195"/>
            <a:ext cx="1243644" cy="95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8"/>
              </a:lnSpc>
              <a:spcBef>
                <a:spcPct val="0"/>
              </a:spcBef>
            </a:pPr>
            <a:r>
              <a:rPr lang="en-US" sz="563" spc="56" dirty="0">
                <a:solidFill>
                  <a:srgbClr val="D5D7DD"/>
                </a:solidFill>
                <a:latin typeface="Open Sans"/>
                <a:ea typeface="Open Sans"/>
                <a:cs typeface="Open Sans"/>
                <a:sym typeface="Open Sans"/>
              </a:rPr>
              <a:t>VISIONARY BY DESIGN</a:t>
            </a:r>
          </a:p>
        </p:txBody>
      </p:sp>
      <p:sp useBgFill="1">
        <p:nvSpPr>
          <p:cNvPr id="16" name="Rectangle: Rounded Corners 15">
            <a:hlinkClick r:id="rId15" action="ppaction://hlinksldjump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94B66225-B3BB-801F-4804-0D5430A96D8C}"/>
              </a:ext>
            </a:extLst>
          </p:cNvPr>
          <p:cNvSpPr/>
          <p:nvPr/>
        </p:nvSpPr>
        <p:spPr>
          <a:xfrm>
            <a:off x="7652174" y="6868038"/>
            <a:ext cx="3308040" cy="2144729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2" name="TextBox 15">
            <a:extLst>
              <a:ext uri="{FF2B5EF4-FFF2-40B4-BE49-F238E27FC236}">
                <a16:creationId xmlns:a16="http://schemas.microsoft.com/office/drawing/2014/main" id="{23B9EF15-590F-A99D-6035-4A983AD4335B}"/>
              </a:ext>
            </a:extLst>
          </p:cNvPr>
          <p:cNvSpPr txBox="1"/>
          <p:nvPr/>
        </p:nvSpPr>
        <p:spPr>
          <a:xfrm>
            <a:off x="8172009" y="7041825"/>
            <a:ext cx="2332982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ABOUT BEIT YAKAN</a:t>
            </a:r>
          </a:p>
        </p:txBody>
      </p:sp>
      <p:pic>
        <p:nvPicPr>
          <p:cNvPr id="33" name="Picture 32">
            <a:hlinkClick r:id="rId15" action="ppaction://hlinksldjump" highlightClick="1"/>
            <a:extLst>
              <a:ext uri="{FF2B5EF4-FFF2-40B4-BE49-F238E27FC236}">
                <a16:creationId xmlns:a16="http://schemas.microsoft.com/office/drawing/2014/main" id="{003218CE-9BD8-4A0D-EAFB-5EE7A3A05F8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66219" y="7512533"/>
            <a:ext cx="2342073" cy="1317416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43E5EC49-378F-42D3-9285-4FCAD3EB9019}"/>
              </a:ext>
            </a:extLst>
          </p:cNvPr>
          <p:cNvSpPr txBox="1"/>
          <p:nvPr/>
        </p:nvSpPr>
        <p:spPr>
          <a:xfrm>
            <a:off x="15986760" y="459504"/>
            <a:ext cx="1118617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Spring 26</a:t>
            </a:r>
          </a:p>
        </p:txBody>
      </p:sp>
      <p:sp>
        <p:nvSpPr>
          <p:cNvPr id="25" name="TextBox 11">
            <a:extLst>
              <a:ext uri="{FF2B5EF4-FFF2-40B4-BE49-F238E27FC236}">
                <a16:creationId xmlns:a16="http://schemas.microsoft.com/office/drawing/2014/main" id="{421FB250-08AE-A11F-67ED-E4C6B5916FC7}"/>
              </a:ext>
            </a:extLst>
          </p:cNvPr>
          <p:cNvSpPr txBox="1"/>
          <p:nvPr/>
        </p:nvSpPr>
        <p:spPr>
          <a:xfrm>
            <a:off x="12526454" y="457177"/>
            <a:ext cx="3475546" cy="228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Architectural Photographic Techniques</a:t>
            </a: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FB80295E-8B7C-A144-9BA5-6CC3985C035B}"/>
              </a:ext>
            </a:extLst>
          </p:cNvPr>
          <p:cNvSpPr txBox="1"/>
          <p:nvPr/>
        </p:nvSpPr>
        <p:spPr>
          <a:xfrm>
            <a:off x="11090816" y="457177"/>
            <a:ext cx="925752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ASE 4534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141D3580-4A41-4943-C0C4-0FAB1DBB0EA9}"/>
              </a:ext>
            </a:extLst>
          </p:cNvPr>
          <p:cNvSpPr txBox="1"/>
          <p:nvPr/>
        </p:nvSpPr>
        <p:spPr>
          <a:xfrm>
            <a:off x="1338350" y="6139657"/>
            <a:ext cx="10678218" cy="85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 Sequential Exploration of Space and Atmosphere</a:t>
            </a:r>
          </a:p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By: Hadeel Zakaria 220009</a:t>
            </a:r>
          </a:p>
        </p:txBody>
      </p:sp>
    </p:spTree>
    <p:extLst>
      <p:ext uri="{BB962C8B-B14F-4D97-AF65-F5344CB8AC3E}">
        <p14:creationId xmlns:p14="http://schemas.microsoft.com/office/powerpoint/2010/main" val="12889543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t="-5000" b="-5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76B16-5B2D-FCC6-25D3-A3709B69E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689ABE-2E3F-154B-C53B-D1E1B33A1137}"/>
              </a:ext>
            </a:extLst>
          </p:cNvPr>
          <p:cNvSpPr/>
          <p:nvPr/>
        </p:nvSpPr>
        <p:spPr>
          <a:xfrm>
            <a:off x="1430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1189371">
                <a:moveTo>
                  <a:pt x="0" y="0"/>
                </a:moveTo>
                <a:lnTo>
                  <a:pt x="18288000" y="0"/>
                </a:lnTo>
                <a:lnTo>
                  <a:pt x="18288000" y="11189371"/>
                </a:lnTo>
                <a:lnTo>
                  <a:pt x="0" y="1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9000" contrast="14000"/>
                      </a14:imgEffect>
                    </a14:imgLayer>
                  </a14:imgProps>
                </a:ext>
              </a:extLst>
            </a:blip>
            <a:stretch>
              <a:fillRect t="-8838" b="-8838"/>
            </a:stretch>
          </a:blipFill>
          <a:effectLst>
            <a:outerShdw blurRad="50800" dist="50800" dir="5400000" algn="ctr" rotWithShape="0">
              <a:schemeClr val="tx1">
                <a:alpha val="93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C54FD162-E7F2-C349-0B2F-3BF94B4FE8F6}"/>
              </a:ext>
            </a:extLst>
          </p:cNvPr>
          <p:cNvGrpSpPr/>
          <p:nvPr/>
        </p:nvGrpSpPr>
        <p:grpSpPr>
          <a:xfrm>
            <a:off x="10256454" y="0"/>
            <a:ext cx="8041071" cy="1176053"/>
            <a:chOff x="0" y="0"/>
            <a:chExt cx="1852462" cy="2709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53DD3F1-7104-2CA3-0A96-6B89F92D0405}"/>
                </a:ext>
              </a:extLst>
            </p:cNvPr>
            <p:cNvSpPr/>
            <p:nvPr/>
          </p:nvSpPr>
          <p:spPr>
            <a:xfrm>
              <a:off x="0" y="0"/>
              <a:ext cx="1852462" cy="270933"/>
            </a:xfrm>
            <a:custGeom>
              <a:avLst/>
              <a:gdLst/>
              <a:ahLst/>
              <a:cxnLst/>
              <a:rect l="l" t="t" r="r" b="b"/>
              <a:pathLst>
                <a:path w="1852462" h="270933">
                  <a:moveTo>
                    <a:pt x="0" y="0"/>
                  </a:moveTo>
                  <a:lnTo>
                    <a:pt x="1852462" y="0"/>
                  </a:lnTo>
                  <a:lnTo>
                    <a:pt x="185246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6DBF1C9-0965-8DF5-A654-3099ABCA8A78}"/>
                </a:ext>
              </a:extLst>
            </p:cNvPr>
            <p:cNvSpPr txBox="1"/>
            <p:nvPr/>
          </p:nvSpPr>
          <p:spPr>
            <a:xfrm>
              <a:off x="0" y="-38100"/>
              <a:ext cx="1852462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>
            <a:extLst>
              <a:ext uri="{FF2B5EF4-FFF2-40B4-BE49-F238E27FC236}">
                <a16:creationId xmlns:a16="http://schemas.microsoft.com/office/drawing/2014/main" id="{F60446B9-66B2-4477-AE76-4702F582BFC8}"/>
              </a:ext>
            </a:extLst>
          </p:cNvPr>
          <p:cNvSpPr/>
          <p:nvPr/>
        </p:nvSpPr>
        <p:spPr>
          <a:xfrm>
            <a:off x="17263034" y="428314"/>
            <a:ext cx="552464" cy="319425"/>
          </a:xfrm>
          <a:custGeom>
            <a:avLst/>
            <a:gdLst/>
            <a:ahLst/>
            <a:cxnLst/>
            <a:rect l="l" t="t" r="r" b="b"/>
            <a:pathLst>
              <a:path w="552464" h="319425">
                <a:moveTo>
                  <a:pt x="0" y="0"/>
                </a:moveTo>
                <a:lnTo>
                  <a:pt x="552464" y="0"/>
                </a:lnTo>
                <a:lnTo>
                  <a:pt x="552464" y="319425"/>
                </a:lnTo>
                <a:lnTo>
                  <a:pt x="0" y="3194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35A753-83D2-C039-D545-CA85C0F0EE6C}"/>
              </a:ext>
            </a:extLst>
          </p:cNvPr>
          <p:cNvSpPr txBox="1"/>
          <p:nvPr/>
        </p:nvSpPr>
        <p:spPr>
          <a:xfrm>
            <a:off x="1070927" y="4493783"/>
            <a:ext cx="13034800" cy="1604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78"/>
              </a:lnSpc>
              <a:spcBef>
                <a:spcPct val="0"/>
              </a:spcBef>
            </a:pPr>
            <a:r>
              <a:rPr lang="en-US" sz="8841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Through Beit Yakan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1CEF5D8-1401-7590-D32E-4B2862D1FD3C}"/>
              </a:ext>
            </a:extLst>
          </p:cNvPr>
          <p:cNvSpPr/>
          <p:nvPr/>
        </p:nvSpPr>
        <p:spPr>
          <a:xfrm>
            <a:off x="-83293" y="0"/>
            <a:ext cx="6342108" cy="10287000"/>
          </a:xfrm>
          <a:custGeom>
            <a:avLst/>
            <a:gdLst/>
            <a:ahLst/>
            <a:cxnLst/>
            <a:rect l="l" t="t" r="r" b="b"/>
            <a:pathLst>
              <a:path w="6244511" h="11260594">
                <a:moveTo>
                  <a:pt x="0" y="0"/>
                </a:moveTo>
                <a:lnTo>
                  <a:pt x="6244511" y="0"/>
                </a:lnTo>
                <a:lnTo>
                  <a:pt x="6244511" y="11260593"/>
                </a:lnTo>
                <a:lnTo>
                  <a:pt x="0" y="1126059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A810E1C1-28F3-0FAD-F408-FA665C832D0D}"/>
              </a:ext>
            </a:extLst>
          </p:cNvPr>
          <p:cNvSpPr/>
          <p:nvPr/>
        </p:nvSpPr>
        <p:spPr>
          <a:xfrm>
            <a:off x="14303" y="0"/>
            <a:ext cx="7034766" cy="12577729"/>
          </a:xfrm>
          <a:custGeom>
            <a:avLst/>
            <a:gdLst/>
            <a:ahLst/>
            <a:cxnLst/>
            <a:rect l="l" t="t" r="r" b="b"/>
            <a:pathLst>
              <a:path w="7034766" h="12685643">
                <a:moveTo>
                  <a:pt x="0" y="0"/>
                </a:moveTo>
                <a:lnTo>
                  <a:pt x="7034765" y="0"/>
                </a:lnTo>
                <a:lnTo>
                  <a:pt x="7034765" y="12685643"/>
                </a:lnTo>
                <a:lnTo>
                  <a:pt x="0" y="1268564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15000"/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917B77E-DC73-51E7-AB1B-886988645A63}"/>
              </a:ext>
            </a:extLst>
          </p:cNvPr>
          <p:cNvSpPr txBox="1"/>
          <p:nvPr/>
        </p:nvSpPr>
        <p:spPr>
          <a:xfrm>
            <a:off x="1183525" y="3622883"/>
            <a:ext cx="10987868" cy="1128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57"/>
              </a:lnSpc>
              <a:spcBef>
                <a:spcPct val="0"/>
              </a:spcBef>
            </a:pPr>
            <a:r>
              <a:rPr lang="en-US" sz="6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Photographic Journey </a:t>
            </a:r>
          </a:p>
        </p:txBody>
      </p:sp>
      <p:sp useBgFill="1">
        <p:nvSpPr>
          <p:cNvPr id="21" name="Rectangle: Rounded Corners 20">
            <a:hlinkHover r:id="rId10" action="ppaction://hlinksldjump" highlightClick="1"/>
            <a:extLst>
              <a:ext uri="{FF2B5EF4-FFF2-40B4-BE49-F238E27FC236}">
                <a16:creationId xmlns:a16="http://schemas.microsoft.com/office/drawing/2014/main" id="{A6774AA9-F971-B565-11F5-4B2530C07700}"/>
              </a:ext>
            </a:extLst>
          </p:cNvPr>
          <p:cNvSpPr/>
          <p:nvPr/>
        </p:nvSpPr>
        <p:spPr>
          <a:xfrm>
            <a:off x="7837539" y="7449757"/>
            <a:ext cx="2730695" cy="1371601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 useBgFill="1">
        <p:nvSpPr>
          <p:cNvPr id="23" name="Rectangle: Rounded Corners 22">
            <a:hlinkHover r:id="rId11" action="ppaction://hlinksldjump" highlightClick="1"/>
            <a:extLst>
              <a:ext uri="{FF2B5EF4-FFF2-40B4-BE49-F238E27FC236}">
                <a16:creationId xmlns:a16="http://schemas.microsoft.com/office/drawing/2014/main" id="{835BD65B-A937-8BD0-9954-0DA02CCD4033}"/>
              </a:ext>
            </a:extLst>
          </p:cNvPr>
          <p:cNvSpPr/>
          <p:nvPr/>
        </p:nvSpPr>
        <p:spPr>
          <a:xfrm>
            <a:off x="4749687" y="7429500"/>
            <a:ext cx="2730695" cy="1371602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4" name="TextBox 15">
            <a:extLst>
              <a:ext uri="{FF2B5EF4-FFF2-40B4-BE49-F238E27FC236}">
                <a16:creationId xmlns:a16="http://schemas.microsoft.com/office/drawing/2014/main" id="{0DC76940-CE36-6005-105E-B1779D7DC055}"/>
              </a:ext>
            </a:extLst>
          </p:cNvPr>
          <p:cNvSpPr txBox="1"/>
          <p:nvPr/>
        </p:nvSpPr>
        <p:spPr>
          <a:xfrm>
            <a:off x="5473767" y="7909897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LOCATION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E6BDC91B-DAB1-6E32-B0A7-59A036DDABFB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27" name="Freeform 13">
              <a:extLst>
                <a:ext uri="{FF2B5EF4-FFF2-40B4-BE49-F238E27FC236}">
                  <a16:creationId xmlns:a16="http://schemas.microsoft.com/office/drawing/2014/main" id="{A377CF26-459D-B8F1-9C55-CACFF6ED0333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14">
              <a:extLst>
                <a:ext uri="{FF2B5EF4-FFF2-40B4-BE49-F238E27FC236}">
                  <a16:creationId xmlns:a16="http://schemas.microsoft.com/office/drawing/2014/main" id="{6B9D6CBA-8BE9-D1B7-4A35-85880ABF756A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29" name="Picture 28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109D69EF-8892-7BDA-FB7F-A5B4708B329C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3243" y="9410155"/>
            <a:ext cx="1028701" cy="724989"/>
          </a:xfrm>
          <a:prstGeom prst="rect">
            <a:avLst/>
          </a:prstGeom>
        </p:spPr>
      </p:pic>
      <p:sp>
        <p:nvSpPr>
          <p:cNvPr id="30" name="Freeform 24">
            <a:extLst>
              <a:ext uri="{FF2B5EF4-FFF2-40B4-BE49-F238E27FC236}">
                <a16:creationId xmlns:a16="http://schemas.microsoft.com/office/drawing/2014/main" id="{82E6D1F7-B5F8-351F-79C6-AD9C6B818D54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FE06CFFB-73BB-0E83-C18F-C284EC3D065E}"/>
              </a:ext>
            </a:extLst>
          </p:cNvPr>
          <p:cNvSpPr txBox="1"/>
          <p:nvPr/>
        </p:nvSpPr>
        <p:spPr>
          <a:xfrm>
            <a:off x="381000" y="335553"/>
            <a:ext cx="172071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D5D7DD"/>
                </a:solidFill>
                <a:latin typeface="Invitation" pitchFamily="2" charset="0"/>
                <a:ea typeface="Brittany"/>
                <a:cs typeface="Times New Roman" panose="02020603050405020304" pitchFamily="18" charset="0"/>
                <a:sym typeface="Brittany"/>
              </a:rPr>
              <a:t>Hadeel Zakaria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CFDD5C36-116D-82A9-5094-B0F1971132B1}"/>
              </a:ext>
            </a:extLst>
          </p:cNvPr>
          <p:cNvSpPr txBox="1"/>
          <p:nvPr/>
        </p:nvSpPr>
        <p:spPr>
          <a:xfrm>
            <a:off x="168948" y="735195"/>
            <a:ext cx="1243644" cy="95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88"/>
              </a:lnSpc>
              <a:spcBef>
                <a:spcPct val="0"/>
              </a:spcBef>
            </a:pPr>
            <a:r>
              <a:rPr lang="en-US" sz="563" spc="56" dirty="0">
                <a:solidFill>
                  <a:srgbClr val="D5D7DD"/>
                </a:solidFill>
                <a:latin typeface="Open Sans"/>
                <a:ea typeface="Open Sans"/>
                <a:cs typeface="Open Sans"/>
                <a:sym typeface="Open Sans"/>
              </a:rPr>
              <a:t>VISIONARY BY DESIGN</a:t>
            </a:r>
          </a:p>
        </p:txBody>
      </p:sp>
      <p:sp>
        <p:nvSpPr>
          <p:cNvPr id="33" name="TextBox 15">
            <a:extLst>
              <a:ext uri="{FF2B5EF4-FFF2-40B4-BE49-F238E27FC236}">
                <a16:creationId xmlns:a16="http://schemas.microsoft.com/office/drawing/2014/main" id="{ABAFE44D-AF86-76A4-3668-BEE1CD73D63B}"/>
              </a:ext>
            </a:extLst>
          </p:cNvPr>
          <p:cNvSpPr txBox="1"/>
          <p:nvPr/>
        </p:nvSpPr>
        <p:spPr>
          <a:xfrm>
            <a:off x="8049877" y="7938932"/>
            <a:ext cx="2332982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ABOUT BEIT YAKAN</a:t>
            </a:r>
          </a:p>
        </p:txBody>
      </p:sp>
      <p:sp useBgFill="1">
        <p:nvSpPr>
          <p:cNvPr id="16" name="Rectangle: Rounded Corners 15">
            <a:hlinkClick r:id="" action="ppaction://noaction" highlightClick="1"/>
            <a:hlinkHover r:id="" action="ppaction://noaction" highlightClick="1"/>
            <a:extLst>
              <a:ext uri="{FF2B5EF4-FFF2-40B4-BE49-F238E27FC236}">
                <a16:creationId xmlns:a16="http://schemas.microsoft.com/office/drawing/2014/main" id="{5CAD2CBE-ADE2-607E-7948-6DB7EEAD4ACD}"/>
              </a:ext>
            </a:extLst>
          </p:cNvPr>
          <p:cNvSpPr/>
          <p:nvPr/>
        </p:nvSpPr>
        <p:spPr>
          <a:xfrm>
            <a:off x="10789251" y="6968909"/>
            <a:ext cx="3308040" cy="2144729"/>
          </a:xfrm>
          <a:prstGeom prst="roundRect">
            <a:avLst/>
          </a:prstGeom>
          <a:ln>
            <a:noFill/>
          </a:ln>
          <a:effectLst>
            <a:innerShdw blurRad="254000">
              <a:schemeClr val="bg1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7" name="TextBox 15">
            <a:extLst>
              <a:ext uri="{FF2B5EF4-FFF2-40B4-BE49-F238E27FC236}">
                <a16:creationId xmlns:a16="http://schemas.microsoft.com/office/drawing/2014/main" id="{B4307E5A-720B-FD9A-F6E1-09456E120C76}"/>
              </a:ext>
            </a:extLst>
          </p:cNvPr>
          <p:cNvSpPr txBox="1"/>
          <p:nvPr/>
        </p:nvSpPr>
        <p:spPr>
          <a:xfrm>
            <a:off x="11640977" y="7133045"/>
            <a:ext cx="1722094" cy="393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sym typeface="Times New Roman MT Italics"/>
              </a:rPr>
              <a:t>START TOUR</a:t>
            </a:r>
          </a:p>
        </p:txBody>
      </p:sp>
      <p:pic>
        <p:nvPicPr>
          <p:cNvPr id="22" name="Picture 21">
            <a:hlinkClick r:id="rId15" action="ppaction://hlinksldjump"/>
            <a:extLst>
              <a:ext uri="{FF2B5EF4-FFF2-40B4-BE49-F238E27FC236}">
                <a16:creationId xmlns:a16="http://schemas.microsoft.com/office/drawing/2014/main" id="{B693EB00-7F63-1B6D-6091-E82128DDBBCA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250883" y="7521787"/>
            <a:ext cx="2384775" cy="1341436"/>
          </a:xfrm>
          <a:prstGeom prst="rect">
            <a:avLst/>
          </a:prstGeom>
        </p:spPr>
      </p:pic>
      <p:sp>
        <p:nvSpPr>
          <p:cNvPr id="25" name="TextBox 9">
            <a:extLst>
              <a:ext uri="{FF2B5EF4-FFF2-40B4-BE49-F238E27FC236}">
                <a16:creationId xmlns:a16="http://schemas.microsoft.com/office/drawing/2014/main" id="{6A45C281-1900-6EAE-7139-DA58FC3F68EC}"/>
              </a:ext>
            </a:extLst>
          </p:cNvPr>
          <p:cNvSpPr txBox="1"/>
          <p:nvPr/>
        </p:nvSpPr>
        <p:spPr>
          <a:xfrm>
            <a:off x="15986760" y="459504"/>
            <a:ext cx="1118617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Spring 26</a:t>
            </a:r>
          </a:p>
        </p:txBody>
      </p:sp>
      <p:sp>
        <p:nvSpPr>
          <p:cNvPr id="34" name="TextBox 11">
            <a:extLst>
              <a:ext uri="{FF2B5EF4-FFF2-40B4-BE49-F238E27FC236}">
                <a16:creationId xmlns:a16="http://schemas.microsoft.com/office/drawing/2014/main" id="{223185C7-7277-3B7F-10A9-942F0D279901}"/>
              </a:ext>
            </a:extLst>
          </p:cNvPr>
          <p:cNvSpPr txBox="1"/>
          <p:nvPr/>
        </p:nvSpPr>
        <p:spPr>
          <a:xfrm>
            <a:off x="12526454" y="457177"/>
            <a:ext cx="3475546" cy="228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Architectural Photographic Techniques</a:t>
            </a:r>
          </a:p>
        </p:txBody>
      </p:sp>
      <p:sp>
        <p:nvSpPr>
          <p:cNvPr id="35" name="TextBox 12">
            <a:extLst>
              <a:ext uri="{FF2B5EF4-FFF2-40B4-BE49-F238E27FC236}">
                <a16:creationId xmlns:a16="http://schemas.microsoft.com/office/drawing/2014/main" id="{2AFEDCEA-7E8B-12CE-F368-B57EF2AD2AEF}"/>
              </a:ext>
            </a:extLst>
          </p:cNvPr>
          <p:cNvSpPr txBox="1"/>
          <p:nvPr/>
        </p:nvSpPr>
        <p:spPr>
          <a:xfrm>
            <a:off x="11090816" y="457177"/>
            <a:ext cx="925752" cy="23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  <a:spcBef>
                <a:spcPct val="0"/>
              </a:spcBef>
            </a:pPr>
            <a:r>
              <a:rPr lang="en-US" sz="1371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ASE 4534</a:t>
            </a:r>
          </a:p>
        </p:txBody>
      </p:sp>
      <p:sp>
        <p:nvSpPr>
          <p:cNvPr id="36" name="TextBox 15">
            <a:extLst>
              <a:ext uri="{FF2B5EF4-FFF2-40B4-BE49-F238E27FC236}">
                <a16:creationId xmlns:a16="http://schemas.microsoft.com/office/drawing/2014/main" id="{B77A6203-292A-AA79-8839-8D684EFDE16A}"/>
              </a:ext>
            </a:extLst>
          </p:cNvPr>
          <p:cNvSpPr txBox="1"/>
          <p:nvPr/>
        </p:nvSpPr>
        <p:spPr>
          <a:xfrm>
            <a:off x="1338350" y="6139657"/>
            <a:ext cx="10678218" cy="85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A Sequential Exploration of Space and Atmosphere</a:t>
            </a:r>
          </a:p>
          <a:p>
            <a:pPr algn="l">
              <a:lnSpc>
                <a:spcPts val="3379"/>
              </a:lnSpc>
              <a:spcBef>
                <a:spcPct val="0"/>
              </a:spcBef>
            </a:pPr>
            <a:r>
              <a:rPr lang="en-US" sz="2414" i="1" dirty="0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By: Hadeel Zakaria 220009</a:t>
            </a:r>
          </a:p>
        </p:txBody>
      </p:sp>
    </p:spTree>
    <p:extLst>
      <p:ext uri="{BB962C8B-B14F-4D97-AF65-F5344CB8AC3E}">
        <p14:creationId xmlns:p14="http://schemas.microsoft.com/office/powerpoint/2010/main" val="40140821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562600" y="1532263"/>
            <a:ext cx="7133296" cy="3834147"/>
          </a:xfrm>
          <a:custGeom>
            <a:avLst/>
            <a:gdLst/>
            <a:ahLst/>
            <a:cxnLst/>
            <a:rect l="l" t="t" r="r" b="b"/>
            <a:pathLst>
              <a:path w="7133296" h="3834147">
                <a:moveTo>
                  <a:pt x="0" y="0"/>
                </a:moveTo>
                <a:lnTo>
                  <a:pt x="7133296" y="0"/>
                </a:lnTo>
                <a:lnTo>
                  <a:pt x="7133296" y="3834146"/>
                </a:lnTo>
                <a:lnTo>
                  <a:pt x="0" y="38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562600" y="1532263"/>
            <a:ext cx="7133296" cy="3834147"/>
          </a:xfrm>
          <a:custGeom>
            <a:avLst/>
            <a:gdLst/>
            <a:ahLst/>
            <a:cxnLst/>
            <a:rect l="l" t="t" r="r" b="b"/>
            <a:pathLst>
              <a:path w="7133296" h="3834147">
                <a:moveTo>
                  <a:pt x="0" y="0"/>
                </a:moveTo>
                <a:lnTo>
                  <a:pt x="7133296" y="0"/>
                </a:lnTo>
                <a:lnTo>
                  <a:pt x="7133296" y="3834146"/>
                </a:lnTo>
                <a:lnTo>
                  <a:pt x="0" y="38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484779" y="3072390"/>
            <a:ext cx="1504829" cy="1787915"/>
          </a:xfrm>
          <a:custGeom>
            <a:avLst/>
            <a:gdLst/>
            <a:ahLst/>
            <a:cxnLst/>
            <a:rect l="l" t="t" r="r" b="b"/>
            <a:pathLst>
              <a:path w="1504829" h="1787915">
                <a:moveTo>
                  <a:pt x="0" y="0"/>
                </a:moveTo>
                <a:lnTo>
                  <a:pt x="1504829" y="0"/>
                </a:lnTo>
                <a:lnTo>
                  <a:pt x="1504829" y="1787915"/>
                </a:lnTo>
                <a:lnTo>
                  <a:pt x="0" y="17879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194186" t="-86140" r="-179840" b="-2830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39936" y="2910919"/>
            <a:ext cx="367426" cy="509776"/>
          </a:xfrm>
          <a:custGeom>
            <a:avLst/>
            <a:gdLst/>
            <a:ahLst/>
            <a:cxnLst/>
            <a:rect l="l" t="t" r="r" b="b"/>
            <a:pathLst>
              <a:path w="367426" h="509776">
                <a:moveTo>
                  <a:pt x="0" y="0"/>
                </a:moveTo>
                <a:lnTo>
                  <a:pt x="367426" y="0"/>
                </a:lnTo>
                <a:lnTo>
                  <a:pt x="367426" y="509776"/>
                </a:lnTo>
                <a:lnTo>
                  <a:pt x="0" y="5097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00564" r="-136950" b="-284126"/>
            </a:stretch>
          </a:blipFill>
        </p:spPr>
      </p:sp>
      <p:sp>
        <p:nvSpPr>
          <p:cNvPr id="10" name="AutoShape 10"/>
          <p:cNvSpPr/>
          <p:nvPr/>
        </p:nvSpPr>
        <p:spPr>
          <a:xfrm>
            <a:off x="9339936" y="3406407"/>
            <a:ext cx="3924233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11" name="Freeform 11"/>
          <p:cNvSpPr/>
          <p:nvPr/>
        </p:nvSpPr>
        <p:spPr>
          <a:xfrm>
            <a:off x="13039435" y="1485900"/>
            <a:ext cx="3653209" cy="3274164"/>
          </a:xfrm>
          <a:custGeom>
            <a:avLst/>
            <a:gdLst/>
            <a:ahLst/>
            <a:cxnLst/>
            <a:rect l="l" t="t" r="r" b="b"/>
            <a:pathLst>
              <a:path w="3653209" h="3274164">
                <a:moveTo>
                  <a:pt x="0" y="0"/>
                </a:moveTo>
                <a:lnTo>
                  <a:pt x="3653209" y="0"/>
                </a:lnTo>
                <a:lnTo>
                  <a:pt x="3653209" y="3274164"/>
                </a:lnTo>
                <a:lnTo>
                  <a:pt x="0" y="32741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6227142" y="5658576"/>
            <a:ext cx="5804212" cy="3513956"/>
            <a:chOff x="0" y="0"/>
            <a:chExt cx="1528681" cy="92548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528681" cy="925486"/>
            </a:xfrm>
            <a:custGeom>
              <a:avLst/>
              <a:gdLst/>
              <a:ahLst/>
              <a:cxnLst/>
              <a:rect l="l" t="t" r="r" b="b"/>
              <a:pathLst>
                <a:path w="1528681" h="925486">
                  <a:moveTo>
                    <a:pt x="68026" y="0"/>
                  </a:moveTo>
                  <a:lnTo>
                    <a:pt x="1460655" y="0"/>
                  </a:lnTo>
                  <a:cubicBezTo>
                    <a:pt x="1478697" y="0"/>
                    <a:pt x="1496000" y="7167"/>
                    <a:pt x="1508757" y="19924"/>
                  </a:cubicBezTo>
                  <a:cubicBezTo>
                    <a:pt x="1521514" y="32682"/>
                    <a:pt x="1528681" y="49984"/>
                    <a:pt x="1528681" y="68026"/>
                  </a:cubicBezTo>
                  <a:lnTo>
                    <a:pt x="1528681" y="857460"/>
                  </a:lnTo>
                  <a:cubicBezTo>
                    <a:pt x="1528681" y="895030"/>
                    <a:pt x="1498225" y="925486"/>
                    <a:pt x="1460655" y="925486"/>
                  </a:cubicBezTo>
                  <a:lnTo>
                    <a:pt x="68026" y="925486"/>
                  </a:lnTo>
                  <a:cubicBezTo>
                    <a:pt x="49984" y="925486"/>
                    <a:pt x="32682" y="918319"/>
                    <a:pt x="19924" y="905562"/>
                  </a:cubicBezTo>
                  <a:cubicBezTo>
                    <a:pt x="7167" y="892805"/>
                    <a:pt x="0" y="875502"/>
                    <a:pt x="0" y="857460"/>
                  </a:cubicBezTo>
                  <a:lnTo>
                    <a:pt x="0" y="68026"/>
                  </a:lnTo>
                  <a:cubicBezTo>
                    <a:pt x="0" y="49984"/>
                    <a:pt x="7167" y="32682"/>
                    <a:pt x="19924" y="19924"/>
                  </a:cubicBezTo>
                  <a:cubicBezTo>
                    <a:pt x="32682" y="7167"/>
                    <a:pt x="49984" y="0"/>
                    <a:pt x="68026" y="0"/>
                  </a:cubicBezTo>
                  <a:close/>
                </a:path>
              </a:pathLst>
            </a:custGeom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528681" cy="9635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6255717" y="5685412"/>
            <a:ext cx="5726299" cy="3487120"/>
          </a:xfrm>
          <a:custGeom>
            <a:avLst/>
            <a:gdLst/>
            <a:ahLst/>
            <a:cxnLst/>
            <a:rect l="l" t="t" r="r" b="b"/>
            <a:pathLst>
              <a:path w="5726299" h="3487120">
                <a:moveTo>
                  <a:pt x="0" y="0"/>
                </a:moveTo>
                <a:lnTo>
                  <a:pt x="5726299" y="0"/>
                </a:lnTo>
                <a:lnTo>
                  <a:pt x="5726299" y="3487120"/>
                </a:lnTo>
                <a:lnTo>
                  <a:pt x="0" y="34871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4586" t="-62394" r="-35980" b="-35771"/>
            </a:stretch>
          </a:blipFill>
        </p:spPr>
      </p:sp>
      <p:sp>
        <p:nvSpPr>
          <p:cNvPr id="16" name="AutoShape 16"/>
          <p:cNvSpPr/>
          <p:nvPr/>
        </p:nvSpPr>
        <p:spPr>
          <a:xfrm>
            <a:off x="15033914" y="2259065"/>
            <a:ext cx="1658730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1" name="TextBox 21"/>
          <p:cNvSpPr txBox="1"/>
          <p:nvPr/>
        </p:nvSpPr>
        <p:spPr>
          <a:xfrm>
            <a:off x="1355583" y="2540932"/>
            <a:ext cx="4982502" cy="2255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71"/>
              </a:lnSpc>
            </a:pPr>
            <a:r>
              <a:rPr lang="en-US" sz="6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</a:t>
            </a:r>
          </a:p>
          <a:p>
            <a:pPr algn="l">
              <a:lnSpc>
                <a:spcPts val="8771"/>
              </a:lnSpc>
            </a:pPr>
            <a:r>
              <a:rPr lang="en-US" sz="67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are we?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80394" y="5196476"/>
            <a:ext cx="4123463" cy="2052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79"/>
              </a:lnSpc>
            </a:pPr>
            <a:r>
              <a:rPr lang="en-US" sz="16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Nestled within the dense historic fabric of Islamic Cairo, Beit Yakan quietly resides in the district of Darb al-Ahmar — a place where centuries overlap through narrow alleyways, weathered stone, and layered memories.</a:t>
            </a:r>
          </a:p>
          <a:p>
            <a:pPr algn="l">
              <a:lnSpc>
                <a:spcPts val="2379"/>
              </a:lnSpc>
              <a:spcBef>
                <a:spcPct val="0"/>
              </a:spcBef>
            </a:pPr>
            <a:endParaRPr lang="en-US" sz="1699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168948" y="212445"/>
            <a:ext cx="1932767" cy="603809"/>
            <a:chOff x="0" y="0"/>
            <a:chExt cx="2577022" cy="80508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00308" cy="640246"/>
            </a:xfrm>
            <a:custGeom>
              <a:avLst/>
              <a:gdLst/>
              <a:ahLst/>
              <a:cxnLst/>
              <a:rect l="l" t="t" r="r" b="b"/>
              <a:pathLst>
                <a:path w="800308" h="640246">
                  <a:moveTo>
                    <a:pt x="0" y="0"/>
                  </a:moveTo>
                  <a:lnTo>
                    <a:pt x="800308" y="0"/>
                  </a:lnTo>
                  <a:lnTo>
                    <a:pt x="800308" y="640246"/>
                  </a:lnTo>
                  <a:lnTo>
                    <a:pt x="0" y="640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282736" y="164144"/>
              <a:ext cx="2294286" cy="42225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613"/>
                </a:lnSpc>
                <a:spcBef>
                  <a:spcPct val="0"/>
                </a:spcBef>
              </a:pPr>
              <a:r>
                <a:rPr lang="en-US" sz="1866" dirty="0">
                  <a:solidFill>
                    <a:srgbClr val="D5D7DD"/>
                  </a:solidFill>
                  <a:latin typeface="Invitation" pitchFamily="2" charset="0"/>
                  <a:ea typeface="Brittany"/>
                  <a:cs typeface="Times New Roman" panose="02020603050405020304" pitchFamily="18" charset="0"/>
                  <a:sym typeface="Brittany"/>
                </a:rPr>
                <a:t>Hadeel Zakaria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697001"/>
              <a:ext cx="1658192" cy="108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8"/>
                </a:lnSpc>
                <a:spcBef>
                  <a:spcPct val="0"/>
                </a:spcBef>
              </a:pPr>
              <a:r>
                <a:rPr lang="en-US" sz="563" spc="56" dirty="0">
                  <a:solidFill>
                    <a:srgbClr val="D5D7DD"/>
                  </a:solidFill>
                  <a:latin typeface="Open Sans"/>
                  <a:ea typeface="Open Sans"/>
                  <a:cs typeface="Open Sans"/>
                  <a:sym typeface="Open Sans"/>
                </a:rPr>
                <a:t>VISIONARY BY DESIGN</a:t>
              </a:r>
            </a:p>
          </p:txBody>
        </p:sp>
      </p:grpSp>
      <p:sp>
        <p:nvSpPr>
          <p:cNvPr id="27" name="AutoShape 27"/>
          <p:cNvSpPr/>
          <p:nvPr/>
        </p:nvSpPr>
        <p:spPr>
          <a:xfrm>
            <a:off x="11982016" y="7443259"/>
            <a:ext cx="4710628" cy="0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8" name="TextBox 28"/>
          <p:cNvSpPr txBox="1"/>
          <p:nvPr/>
        </p:nvSpPr>
        <p:spPr>
          <a:xfrm>
            <a:off x="9237193" y="5046436"/>
            <a:ext cx="412346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EGYPT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5179102" y="4831730"/>
            <a:ext cx="412346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CAIRO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205482" y="9229682"/>
            <a:ext cx="6452467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Hidden within the dense urban fabric of Historic Cairo lies</a:t>
            </a:r>
            <a:r>
              <a:rPr lang="en-US" sz="1400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Beit Yakan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6692644" y="2239632"/>
            <a:ext cx="0" cy="5184195"/>
          </a:xfrm>
          <a:prstGeom prst="line">
            <a:avLst/>
          </a:prstGeom>
          <a:ln w="28575" cap="flat">
            <a:solidFill>
              <a:srgbClr val="FFFFFF"/>
            </a:solidFill>
            <a:prstDash val="solid"/>
            <a:headEnd type="oval" w="lg" len="lg"/>
            <a:tailEnd type="oval" w="lg" len="lg"/>
          </a:ln>
        </p:spPr>
      </p:sp>
      <p:grpSp>
        <p:nvGrpSpPr>
          <p:cNvPr id="32" name="Group 32"/>
          <p:cNvGrpSpPr/>
          <p:nvPr/>
        </p:nvGrpSpPr>
        <p:grpSpPr>
          <a:xfrm>
            <a:off x="17259300" y="4484457"/>
            <a:ext cx="1028700" cy="1028700"/>
            <a:chOff x="0" y="0"/>
            <a:chExt cx="270933" cy="27093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0" y="4484457"/>
            <a:ext cx="1028700" cy="1028700"/>
            <a:chOff x="0" y="0"/>
            <a:chExt cx="270933" cy="270933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8" name="Freeform 38">
            <a:hlinkClick r:id="" action="ppaction://hlinkshowjump?jump=nextslide" highlightClick="1"/>
            <a:hlinkHover r:id="" action="ppaction://noaction" highlightClick="1"/>
          </p:cNvPr>
          <p:cNvSpPr/>
          <p:nvPr/>
        </p:nvSpPr>
        <p:spPr>
          <a:xfrm>
            <a:off x="17305958" y="4755797"/>
            <a:ext cx="1000030" cy="505071"/>
          </a:xfrm>
          <a:custGeom>
            <a:avLst/>
            <a:gdLst/>
            <a:ahLst/>
            <a:cxnLst/>
            <a:rect l="l" t="t" r="r" b="b"/>
            <a:pathLst>
              <a:path w="1000030" h="505071">
                <a:moveTo>
                  <a:pt x="0" y="0"/>
                </a:moveTo>
                <a:lnTo>
                  <a:pt x="1000030" y="0"/>
                </a:lnTo>
                <a:lnTo>
                  <a:pt x="1000030" y="505070"/>
                </a:lnTo>
                <a:lnTo>
                  <a:pt x="0" y="5050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5984" t="-112146" r="-19621" b="-110811"/>
            </a:stretch>
          </a:blipFill>
        </p:spPr>
      </p:sp>
      <p:sp>
        <p:nvSpPr>
          <p:cNvPr id="39" name="Freeform 39">
            <a:hlinkClick r:id="" action="ppaction://hlinkshowjump?jump=firstslide" highlightClick="1"/>
            <a:hlinkHover r:id="" action="ppaction://noaction" highlightClick="1"/>
          </p:cNvPr>
          <p:cNvSpPr/>
          <p:nvPr/>
        </p:nvSpPr>
        <p:spPr>
          <a:xfrm>
            <a:off x="-39552" y="4681071"/>
            <a:ext cx="1039677" cy="616423"/>
          </a:xfrm>
          <a:custGeom>
            <a:avLst/>
            <a:gdLst/>
            <a:ahLst/>
            <a:cxnLst/>
            <a:rect l="l" t="t" r="r" b="b"/>
            <a:pathLst>
              <a:path w="1039677" h="616423">
                <a:moveTo>
                  <a:pt x="0" y="0"/>
                </a:moveTo>
                <a:lnTo>
                  <a:pt x="1039677" y="0"/>
                </a:lnTo>
                <a:lnTo>
                  <a:pt x="1039677" y="616422"/>
                </a:lnTo>
                <a:lnTo>
                  <a:pt x="0" y="6164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895" t="-76842" r="-111388" b="-87382"/>
            </a:stretch>
          </a:blipFill>
        </p:spPr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5D9204BD-A9B2-92F4-0384-1C1B933DC890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41" name="Freeform 13">
              <a:extLst>
                <a:ext uri="{FF2B5EF4-FFF2-40B4-BE49-F238E27FC236}">
                  <a16:creationId xmlns:a16="http://schemas.microsoft.com/office/drawing/2014/main" id="{A9656B5D-7F51-2B8F-EE79-C5C9BDD0B25F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TextBox 14">
              <a:extLst>
                <a:ext uri="{FF2B5EF4-FFF2-40B4-BE49-F238E27FC236}">
                  <a16:creationId xmlns:a16="http://schemas.microsoft.com/office/drawing/2014/main" id="{2EA9891C-0DF5-574C-E9DE-F9C2DD7C961F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5" name="Picture 4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1EEA64CE-EBB3-A3D9-96C3-7559B1AFBBB2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656" y="9433176"/>
            <a:ext cx="779988" cy="797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8821"/>
            <a:ext cx="16230600" cy="6442204"/>
            <a:chOff x="0" y="0"/>
            <a:chExt cx="21640800" cy="8166628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24827" b="24827"/>
            <a:stretch>
              <a:fillRect/>
            </a:stretch>
          </p:blipFill>
          <p:spPr>
            <a:xfrm>
              <a:off x="0" y="0"/>
              <a:ext cx="21640800" cy="8166628"/>
            </a:xfrm>
            <a:prstGeom prst="rect">
              <a:avLst/>
            </a:prstGeom>
          </p:spPr>
        </p:pic>
      </p:grpSp>
      <p:sp>
        <p:nvSpPr>
          <p:cNvPr id="8" name="TextBox 8"/>
          <p:cNvSpPr txBox="1"/>
          <p:nvPr/>
        </p:nvSpPr>
        <p:spPr>
          <a:xfrm>
            <a:off x="1067683" y="7651965"/>
            <a:ext cx="8717662" cy="1301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8"/>
              </a:lnSpc>
              <a:spcBef>
                <a:spcPct val="0"/>
              </a:spcBef>
            </a:pPr>
            <a:r>
              <a:rPr lang="en-US" sz="72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Before We Enter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4419" y="7593331"/>
            <a:ext cx="5680581" cy="1590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Beit Yakan is more than a historic house in Old Cairo.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It is a layered spatial experience shaped by movement, shadow, texture, and time.</a:t>
            </a:r>
          </a:p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This tour documents the architectural atmosphere of the house through a sequential photographic journey.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  <a:endParaRPr lang="en-US" sz="150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7259300" y="4484457"/>
            <a:ext cx="1028700" cy="1028700"/>
            <a:chOff x="0" y="0"/>
            <a:chExt cx="270933" cy="2709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4484457"/>
            <a:ext cx="1028700" cy="1028700"/>
            <a:chOff x="0" y="0"/>
            <a:chExt cx="270933" cy="2709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hlinkClick r:id="" action="ppaction://hlinkshowjump?jump=nextslide" highlightClick="1"/>
            <a:hlinkHover r:id="" action="ppaction://noaction" highlightClick="1"/>
          </p:cNvPr>
          <p:cNvSpPr/>
          <p:nvPr/>
        </p:nvSpPr>
        <p:spPr>
          <a:xfrm>
            <a:off x="17305958" y="4755797"/>
            <a:ext cx="1000030" cy="505071"/>
          </a:xfrm>
          <a:custGeom>
            <a:avLst/>
            <a:gdLst/>
            <a:ahLst/>
            <a:cxnLst/>
            <a:rect l="l" t="t" r="r" b="b"/>
            <a:pathLst>
              <a:path w="1000030" h="505071">
                <a:moveTo>
                  <a:pt x="0" y="0"/>
                </a:moveTo>
                <a:lnTo>
                  <a:pt x="1000030" y="0"/>
                </a:lnTo>
                <a:lnTo>
                  <a:pt x="1000030" y="505070"/>
                </a:lnTo>
                <a:lnTo>
                  <a:pt x="0" y="5050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984" t="-112146" r="-19621" b="-110811"/>
            </a:stretch>
          </a:blipFill>
        </p:spPr>
      </p:sp>
      <p:sp>
        <p:nvSpPr>
          <p:cNvPr id="17" name="Freeform 17">
            <a:hlinkClick r:id="" action="ppaction://hlinkshowjump?jump=previousslide" highlightClick="1"/>
          </p:cNvPr>
          <p:cNvSpPr/>
          <p:nvPr/>
        </p:nvSpPr>
        <p:spPr>
          <a:xfrm>
            <a:off x="-39552" y="4681071"/>
            <a:ext cx="1039677" cy="616423"/>
          </a:xfrm>
          <a:custGeom>
            <a:avLst/>
            <a:gdLst/>
            <a:ahLst/>
            <a:cxnLst/>
            <a:rect l="l" t="t" r="r" b="b"/>
            <a:pathLst>
              <a:path w="1039677" h="616423">
                <a:moveTo>
                  <a:pt x="0" y="0"/>
                </a:moveTo>
                <a:lnTo>
                  <a:pt x="1039677" y="0"/>
                </a:lnTo>
                <a:lnTo>
                  <a:pt x="1039677" y="616422"/>
                </a:lnTo>
                <a:lnTo>
                  <a:pt x="0" y="6164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895" t="-76842" r="-111388" b="-87382"/>
            </a:stretch>
          </a:blipFill>
        </p:spPr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FAF887B7-F85E-C2E8-2B12-A13236C111CF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7" name="TextBox 25">
            <a:extLst>
              <a:ext uri="{FF2B5EF4-FFF2-40B4-BE49-F238E27FC236}">
                <a16:creationId xmlns:a16="http://schemas.microsoft.com/office/drawing/2014/main" id="{B66EB791-5F94-7BEA-74AC-5AA2742028E4}"/>
              </a:ext>
            </a:extLst>
          </p:cNvPr>
          <p:cNvSpPr txBox="1"/>
          <p:nvPr/>
        </p:nvSpPr>
        <p:spPr>
          <a:xfrm>
            <a:off x="381000" y="335553"/>
            <a:ext cx="1720715" cy="3166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13"/>
              </a:lnSpc>
              <a:spcBef>
                <a:spcPct val="0"/>
              </a:spcBef>
            </a:pPr>
            <a:r>
              <a:rPr lang="en-US" sz="1866" dirty="0">
                <a:solidFill>
                  <a:srgbClr val="D5D7DD"/>
                </a:solidFill>
                <a:latin typeface="Invitation" pitchFamily="2" charset="0"/>
                <a:ea typeface="Brittany"/>
                <a:cs typeface="Times New Roman" panose="02020603050405020304" pitchFamily="18" charset="0"/>
                <a:sym typeface="Brittany"/>
              </a:rPr>
              <a:t>Hadeel Zakaria</a:t>
            </a:r>
          </a:p>
        </p:txBody>
      </p:sp>
      <p:sp>
        <p:nvSpPr>
          <p:cNvPr id="28" name="TextBox 26">
            <a:extLst>
              <a:ext uri="{FF2B5EF4-FFF2-40B4-BE49-F238E27FC236}">
                <a16:creationId xmlns:a16="http://schemas.microsoft.com/office/drawing/2014/main" id="{1338EAEC-FBD1-0EF8-0F21-CA094B763F74}"/>
              </a:ext>
            </a:extLst>
          </p:cNvPr>
          <p:cNvSpPr txBox="1"/>
          <p:nvPr/>
        </p:nvSpPr>
        <p:spPr>
          <a:xfrm>
            <a:off x="168948" y="735195"/>
            <a:ext cx="1243644" cy="81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8"/>
              </a:lnSpc>
              <a:spcBef>
                <a:spcPct val="0"/>
              </a:spcBef>
            </a:pPr>
            <a:r>
              <a:rPr lang="en-US" sz="563" spc="56" dirty="0">
                <a:solidFill>
                  <a:srgbClr val="D5D7DD"/>
                </a:solidFill>
                <a:latin typeface="Open Sans"/>
                <a:ea typeface="Open Sans"/>
                <a:cs typeface="Open Sans"/>
                <a:sym typeface="Open Sans"/>
              </a:rPr>
              <a:t>VISIONARY BY DESIGN</a:t>
            </a: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12F3E964-BEF9-C460-49E6-7D8DFBBAE31A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FBF13216-30FA-07A5-49BD-CB8F6B4B1378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249D5CE0-C657-F2AB-99E8-86FE1F09BC69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Picture 3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335121DB-3B96-801C-0BCF-38045F14C8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656" y="9433176"/>
            <a:ext cx="779988" cy="79755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692922" y="825475"/>
            <a:ext cx="10566378" cy="8722483"/>
          </a:xfrm>
          <a:custGeom>
            <a:avLst/>
            <a:gdLst/>
            <a:ahLst/>
            <a:cxnLst/>
            <a:rect l="l" t="t" r="r" b="b"/>
            <a:pathLst>
              <a:path w="10566378" h="8722483">
                <a:moveTo>
                  <a:pt x="0" y="0"/>
                </a:moveTo>
                <a:lnTo>
                  <a:pt x="10566378" y="0"/>
                </a:lnTo>
                <a:lnTo>
                  <a:pt x="10566378" y="8722483"/>
                </a:lnTo>
                <a:lnTo>
                  <a:pt x="0" y="87224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977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85899" y="9246154"/>
            <a:ext cx="866635" cy="558979"/>
          </a:xfrm>
          <a:custGeom>
            <a:avLst/>
            <a:gdLst/>
            <a:ahLst/>
            <a:cxnLst/>
            <a:rect l="l" t="t" r="r" b="b"/>
            <a:pathLst>
              <a:path w="866635" h="558979">
                <a:moveTo>
                  <a:pt x="0" y="0"/>
                </a:moveTo>
                <a:lnTo>
                  <a:pt x="866635" y="0"/>
                </a:lnTo>
                <a:lnTo>
                  <a:pt x="866635" y="558979"/>
                </a:lnTo>
                <a:lnTo>
                  <a:pt x="0" y="558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692143" y="9668995"/>
            <a:ext cx="4534990" cy="466640"/>
          </a:xfrm>
          <a:custGeom>
            <a:avLst/>
            <a:gdLst/>
            <a:ahLst/>
            <a:cxnLst/>
            <a:rect l="l" t="t" r="r" b="b"/>
            <a:pathLst>
              <a:path w="4534990" h="466640">
                <a:moveTo>
                  <a:pt x="0" y="0"/>
                </a:moveTo>
                <a:lnTo>
                  <a:pt x="4534990" y="0"/>
                </a:lnTo>
                <a:lnTo>
                  <a:pt x="4534990" y="466640"/>
                </a:lnTo>
                <a:lnTo>
                  <a:pt x="0" y="466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4371" t="-1391678" r="-45235" b="-1828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17506" y="816255"/>
            <a:ext cx="1141794" cy="984797"/>
          </a:xfrm>
          <a:custGeom>
            <a:avLst/>
            <a:gdLst/>
            <a:ahLst/>
            <a:cxnLst/>
            <a:rect l="l" t="t" r="r" b="b"/>
            <a:pathLst>
              <a:path w="1141794" h="984797">
                <a:moveTo>
                  <a:pt x="0" y="0"/>
                </a:moveTo>
                <a:lnTo>
                  <a:pt x="1141794" y="0"/>
                </a:lnTo>
                <a:lnTo>
                  <a:pt x="1141794" y="984797"/>
                </a:lnTo>
                <a:lnTo>
                  <a:pt x="0" y="9847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0451" r="-25000" b="-445862"/>
            </a:stretch>
          </a:blipFill>
        </p:spPr>
      </p:sp>
      <p:sp>
        <p:nvSpPr>
          <p:cNvPr id="10" name="Freeform 10">
            <a:hlinkClick r:id="rId5" action="ppaction://hlinksldjump"/>
          </p:cNvPr>
          <p:cNvSpPr/>
          <p:nvPr/>
        </p:nvSpPr>
        <p:spPr>
          <a:xfrm rot="344981">
            <a:off x="8434276" y="5694365"/>
            <a:ext cx="802227" cy="741564"/>
          </a:xfrm>
          <a:custGeom>
            <a:avLst/>
            <a:gdLst/>
            <a:ahLst/>
            <a:cxnLst/>
            <a:rect l="l" t="t" r="r" b="b"/>
            <a:pathLst>
              <a:path w="802227" h="741564">
                <a:moveTo>
                  <a:pt x="0" y="0"/>
                </a:moveTo>
                <a:lnTo>
                  <a:pt x="802227" y="0"/>
                </a:lnTo>
                <a:lnTo>
                  <a:pt x="802227" y="741564"/>
                </a:lnTo>
                <a:lnTo>
                  <a:pt x="0" y="7415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6" t="-28867" r="-27887" b="-34478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>
          <a:xfrm>
            <a:off x="1671604" y="8346326"/>
            <a:ext cx="695224" cy="642652"/>
          </a:xfrm>
          <a:custGeom>
            <a:avLst/>
            <a:gdLst/>
            <a:ahLst/>
            <a:cxnLst/>
            <a:rect l="l" t="t" r="r" b="b"/>
            <a:pathLst>
              <a:path w="695224" h="642652">
                <a:moveTo>
                  <a:pt x="0" y="0"/>
                </a:moveTo>
                <a:lnTo>
                  <a:pt x="695225" y="0"/>
                </a:lnTo>
                <a:lnTo>
                  <a:pt x="695225" y="642653"/>
                </a:lnTo>
                <a:lnTo>
                  <a:pt x="0" y="6426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106" t="-28867" r="-27887" b="-34478"/>
            </a:stretch>
          </a:blipFill>
        </p:spPr>
      </p:sp>
      <p:sp>
        <p:nvSpPr>
          <p:cNvPr id="12" name="Freeform 12"/>
          <p:cNvSpPr/>
          <p:nvPr/>
        </p:nvSpPr>
        <p:spPr>
          <a:xfrm rot="219584">
            <a:off x="9945270" y="5888179"/>
            <a:ext cx="866635" cy="558979"/>
          </a:xfrm>
          <a:custGeom>
            <a:avLst/>
            <a:gdLst/>
            <a:ahLst/>
            <a:cxnLst/>
            <a:rect l="l" t="t" r="r" b="b"/>
            <a:pathLst>
              <a:path w="866635" h="558979">
                <a:moveTo>
                  <a:pt x="0" y="0"/>
                </a:moveTo>
                <a:lnTo>
                  <a:pt x="866635" y="0"/>
                </a:lnTo>
                <a:lnTo>
                  <a:pt x="866635" y="558980"/>
                </a:lnTo>
                <a:lnTo>
                  <a:pt x="0" y="558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 rot="-5061589">
            <a:off x="9741943" y="5229976"/>
            <a:ext cx="526047" cy="339300"/>
          </a:xfrm>
          <a:custGeom>
            <a:avLst/>
            <a:gdLst/>
            <a:ahLst/>
            <a:cxnLst/>
            <a:rect l="l" t="t" r="r" b="b"/>
            <a:pathLst>
              <a:path w="526047" h="339300">
                <a:moveTo>
                  <a:pt x="0" y="0"/>
                </a:moveTo>
                <a:lnTo>
                  <a:pt x="526047" y="0"/>
                </a:lnTo>
                <a:lnTo>
                  <a:pt x="526047" y="339300"/>
                </a:lnTo>
                <a:lnTo>
                  <a:pt x="0" y="3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1980949" y="5060326"/>
            <a:ext cx="526047" cy="339300"/>
          </a:xfrm>
          <a:custGeom>
            <a:avLst/>
            <a:gdLst/>
            <a:ahLst/>
            <a:cxnLst/>
            <a:rect l="l" t="t" r="r" b="b"/>
            <a:pathLst>
              <a:path w="526047" h="339300">
                <a:moveTo>
                  <a:pt x="0" y="0"/>
                </a:moveTo>
                <a:lnTo>
                  <a:pt x="526047" y="0"/>
                </a:lnTo>
                <a:lnTo>
                  <a:pt x="526047" y="339300"/>
                </a:lnTo>
                <a:lnTo>
                  <a:pt x="0" y="3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11392171" y="5546639"/>
            <a:ext cx="526047" cy="339300"/>
          </a:xfrm>
          <a:custGeom>
            <a:avLst/>
            <a:gdLst/>
            <a:ahLst/>
            <a:cxnLst/>
            <a:rect l="l" t="t" r="r" b="b"/>
            <a:pathLst>
              <a:path w="526047" h="339300">
                <a:moveTo>
                  <a:pt x="0" y="0"/>
                </a:moveTo>
                <a:lnTo>
                  <a:pt x="526047" y="0"/>
                </a:lnTo>
                <a:lnTo>
                  <a:pt x="526047" y="339300"/>
                </a:lnTo>
                <a:lnTo>
                  <a:pt x="0" y="3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117225">
            <a:off x="11527238" y="4756405"/>
            <a:ext cx="526047" cy="339300"/>
          </a:xfrm>
          <a:custGeom>
            <a:avLst/>
            <a:gdLst/>
            <a:ahLst/>
            <a:cxnLst/>
            <a:rect l="l" t="t" r="r" b="b"/>
            <a:pathLst>
              <a:path w="526047" h="339300">
                <a:moveTo>
                  <a:pt x="0" y="0"/>
                </a:moveTo>
                <a:lnTo>
                  <a:pt x="526047" y="0"/>
                </a:lnTo>
                <a:lnTo>
                  <a:pt x="526047" y="339300"/>
                </a:lnTo>
                <a:lnTo>
                  <a:pt x="0" y="3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8322372">
            <a:off x="10636722" y="5185357"/>
            <a:ext cx="526047" cy="339300"/>
          </a:xfrm>
          <a:custGeom>
            <a:avLst/>
            <a:gdLst/>
            <a:ahLst/>
            <a:cxnLst/>
            <a:rect l="l" t="t" r="r" b="b"/>
            <a:pathLst>
              <a:path w="526047" h="339300">
                <a:moveTo>
                  <a:pt x="0" y="0"/>
                </a:moveTo>
                <a:lnTo>
                  <a:pt x="526047" y="0"/>
                </a:lnTo>
                <a:lnTo>
                  <a:pt x="526047" y="339300"/>
                </a:lnTo>
                <a:lnTo>
                  <a:pt x="0" y="3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075192">
            <a:off x="10874305" y="4790129"/>
            <a:ext cx="526047" cy="339300"/>
          </a:xfrm>
          <a:custGeom>
            <a:avLst/>
            <a:gdLst/>
            <a:ahLst/>
            <a:cxnLst/>
            <a:rect l="l" t="t" r="r" b="b"/>
            <a:pathLst>
              <a:path w="526047" h="339300">
                <a:moveTo>
                  <a:pt x="0" y="0"/>
                </a:moveTo>
                <a:lnTo>
                  <a:pt x="526047" y="0"/>
                </a:lnTo>
                <a:lnTo>
                  <a:pt x="526047" y="339300"/>
                </a:lnTo>
                <a:lnTo>
                  <a:pt x="0" y="339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306601" y="5143500"/>
            <a:ext cx="1060228" cy="1222165"/>
          </a:xfrm>
          <a:custGeom>
            <a:avLst/>
            <a:gdLst/>
            <a:ahLst/>
            <a:cxnLst/>
            <a:rect l="l" t="t" r="r" b="b"/>
            <a:pathLst>
              <a:path w="1060228" h="1222165">
                <a:moveTo>
                  <a:pt x="0" y="0"/>
                </a:moveTo>
                <a:lnTo>
                  <a:pt x="1060228" y="0"/>
                </a:lnTo>
                <a:lnTo>
                  <a:pt x="1060228" y="1222165"/>
                </a:lnTo>
                <a:lnTo>
                  <a:pt x="0" y="12221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>
            <a:off x="1450842" y="5027382"/>
            <a:ext cx="4247489" cy="0"/>
          </a:xfrm>
          <a:prstGeom prst="line">
            <a:avLst/>
          </a:prstGeom>
          <a:ln w="28575" cap="flat">
            <a:solidFill>
              <a:srgbClr val="A7734F"/>
            </a:solidFill>
            <a:prstDash val="sysDot"/>
            <a:headEnd type="none" w="sm" len="sm"/>
            <a:tailEnd type="none" w="sm" len="sm"/>
          </a:ln>
        </p:spPr>
      </p:sp>
      <p:sp>
        <p:nvSpPr>
          <p:cNvPr id="21" name="TextBox 21"/>
          <p:cNvSpPr txBox="1"/>
          <p:nvPr/>
        </p:nvSpPr>
        <p:spPr>
          <a:xfrm>
            <a:off x="1211812" y="2005987"/>
            <a:ext cx="7796764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FOLLOW THE ARROWS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585899" y="2948256"/>
            <a:ext cx="3427960" cy="1807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Let the arrows be your guide. They lead you through Beit Yakan’s rooms, passageways, and open courtyard... revealing the harmony between inside and out.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411775" y="5587920"/>
            <a:ext cx="3427960" cy="28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>
                <a:solidFill>
                  <a:srgbClr val="A7734F"/>
                </a:solidFill>
                <a:latin typeface="Open Sans"/>
                <a:ea typeface="Open Sans"/>
                <a:cs typeface="Open Sans"/>
                <a:sym typeface="Open Sans"/>
              </a:rPr>
              <a:t>DID YOU KNOW?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70371" y="5950738"/>
            <a:ext cx="3427960" cy="2111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Beit Yakan was home to one of Cairo’s most prominent merchants in the 18th century, and its name “Yakan” means “Blessing” in Turkish - a reflection of the prosperity &amp; generosity once welcomed within its walls.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452534" y="8509246"/>
            <a:ext cx="3427960" cy="28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>
                <a:solidFill>
                  <a:srgbClr val="A7734F"/>
                </a:solidFill>
                <a:latin typeface="Open Sans"/>
                <a:ea typeface="Open Sans"/>
                <a:cs typeface="Open Sans"/>
                <a:sym typeface="Open Sans"/>
              </a:rPr>
              <a:t>ENTRANCE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452534" y="9367237"/>
            <a:ext cx="3427960" cy="288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>
                <a:solidFill>
                  <a:srgbClr val="A7734F"/>
                </a:solidFill>
                <a:latin typeface="Open Sans"/>
                <a:ea typeface="Open Sans"/>
                <a:cs typeface="Open Sans"/>
                <a:sym typeface="Open Sans"/>
              </a:rPr>
              <a:t>Navigation Arrows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403526" y="9743439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 dirty="0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GROUND FLOOR</a:t>
            </a:r>
          </a:p>
        </p:txBody>
      </p:sp>
      <p:grpSp>
        <p:nvGrpSpPr>
          <p:cNvPr id="29" name="Group 12">
            <a:extLst>
              <a:ext uri="{FF2B5EF4-FFF2-40B4-BE49-F238E27FC236}">
                <a16:creationId xmlns:a16="http://schemas.microsoft.com/office/drawing/2014/main" id="{512D6816-ED22-0036-0D4E-9C6B2672DE23}"/>
              </a:ext>
            </a:extLst>
          </p:cNvPr>
          <p:cNvGrpSpPr/>
          <p:nvPr/>
        </p:nvGrpSpPr>
        <p:grpSpPr>
          <a:xfrm>
            <a:off x="17259300" y="9258300"/>
            <a:ext cx="1028700" cy="1028700"/>
            <a:chOff x="0" y="0"/>
            <a:chExt cx="270933" cy="270933"/>
          </a:xfrm>
        </p:grpSpPr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17E76540-2D4F-5010-BB5E-3CF1556F275B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14">
              <a:extLst>
                <a:ext uri="{FF2B5EF4-FFF2-40B4-BE49-F238E27FC236}">
                  <a16:creationId xmlns:a16="http://schemas.microsoft.com/office/drawing/2014/main" id="{1464664E-E34F-209E-344B-394F487FE1D8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2" name="Picture 31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49878E28-2F7B-4862-CC26-286CA221E0BE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83656" y="9433176"/>
            <a:ext cx="779988" cy="797556"/>
          </a:xfrm>
          <a:prstGeom prst="rect">
            <a:avLst/>
          </a:prstGeom>
        </p:spPr>
      </p:pic>
      <p:grpSp>
        <p:nvGrpSpPr>
          <p:cNvPr id="33" name="Group 13">
            <a:extLst>
              <a:ext uri="{FF2B5EF4-FFF2-40B4-BE49-F238E27FC236}">
                <a16:creationId xmlns:a16="http://schemas.microsoft.com/office/drawing/2014/main" id="{70012928-3753-C92E-5559-8FA9D4414230}"/>
              </a:ext>
            </a:extLst>
          </p:cNvPr>
          <p:cNvGrpSpPr/>
          <p:nvPr/>
        </p:nvGrpSpPr>
        <p:grpSpPr>
          <a:xfrm>
            <a:off x="0" y="4484457"/>
            <a:ext cx="1028700" cy="1028700"/>
            <a:chOff x="0" y="0"/>
            <a:chExt cx="270933" cy="270933"/>
          </a:xfrm>
        </p:grpSpPr>
        <p:sp>
          <p:nvSpPr>
            <p:cNvPr id="34" name="Freeform 14">
              <a:extLst>
                <a:ext uri="{FF2B5EF4-FFF2-40B4-BE49-F238E27FC236}">
                  <a16:creationId xmlns:a16="http://schemas.microsoft.com/office/drawing/2014/main" id="{2C6630EF-40DE-EBDB-0D5E-2D974E22518F}"/>
                </a:ext>
              </a:extLst>
            </p:cNvPr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35" name="TextBox 15">
              <a:extLst>
                <a:ext uri="{FF2B5EF4-FFF2-40B4-BE49-F238E27FC236}">
                  <a16:creationId xmlns:a16="http://schemas.microsoft.com/office/drawing/2014/main" id="{FB0443B4-5B93-5C1E-F4E0-029799A5942B}"/>
                </a:ext>
              </a:extLst>
            </p:cNvPr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Freeform 17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BDFA3571-0D5F-F30D-D869-817E3A2BCB9A}"/>
              </a:ext>
            </a:extLst>
          </p:cNvPr>
          <p:cNvSpPr/>
          <p:nvPr/>
        </p:nvSpPr>
        <p:spPr>
          <a:xfrm>
            <a:off x="-39552" y="4681071"/>
            <a:ext cx="1039677" cy="616423"/>
          </a:xfrm>
          <a:custGeom>
            <a:avLst/>
            <a:gdLst/>
            <a:ahLst/>
            <a:cxnLst/>
            <a:rect l="l" t="t" r="r" b="b"/>
            <a:pathLst>
              <a:path w="1039677" h="616423">
                <a:moveTo>
                  <a:pt x="0" y="0"/>
                </a:moveTo>
                <a:lnTo>
                  <a:pt x="1039677" y="0"/>
                </a:lnTo>
                <a:lnTo>
                  <a:pt x="1039677" y="616422"/>
                </a:lnTo>
                <a:lnTo>
                  <a:pt x="0" y="61642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895" t="-76842" r="-111388" b="-87382"/>
            </a:stretch>
          </a:blipFill>
        </p:spPr>
      </p:sp>
      <p:sp>
        <p:nvSpPr>
          <p:cNvPr id="37" name="Freeform 24">
            <a:extLst>
              <a:ext uri="{FF2B5EF4-FFF2-40B4-BE49-F238E27FC236}">
                <a16:creationId xmlns:a16="http://schemas.microsoft.com/office/drawing/2014/main" id="{A73BD457-5B50-7B8E-4D05-84EB1B88DADC}"/>
              </a:ext>
            </a:extLst>
          </p:cNvPr>
          <p:cNvSpPr/>
          <p:nvPr/>
        </p:nvSpPr>
        <p:spPr>
          <a:xfrm>
            <a:off x="168948" y="212445"/>
            <a:ext cx="600231" cy="480184"/>
          </a:xfrm>
          <a:custGeom>
            <a:avLst/>
            <a:gdLst/>
            <a:ahLst/>
            <a:cxnLst/>
            <a:rect l="l" t="t" r="r" b="b"/>
            <a:pathLst>
              <a:path w="800308" h="640246">
                <a:moveTo>
                  <a:pt x="0" y="0"/>
                </a:moveTo>
                <a:lnTo>
                  <a:pt x="800308" y="0"/>
                </a:lnTo>
                <a:lnTo>
                  <a:pt x="800308" y="640246"/>
                </a:lnTo>
                <a:lnTo>
                  <a:pt x="0" y="64024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8" name="TextBox 27">
            <a:extLst>
              <a:ext uri="{FF2B5EF4-FFF2-40B4-BE49-F238E27FC236}">
                <a16:creationId xmlns:a16="http://schemas.microsoft.com/office/drawing/2014/main" id="{4EC0233B-51AC-4246-4FB8-C38781A49C29}"/>
              </a:ext>
            </a:extLst>
          </p:cNvPr>
          <p:cNvSpPr txBox="1"/>
          <p:nvPr/>
        </p:nvSpPr>
        <p:spPr>
          <a:xfrm>
            <a:off x="8531678" y="6437044"/>
            <a:ext cx="3427960" cy="5962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Click </a:t>
            </a:r>
          </a:p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 dirty="0">
                <a:solidFill>
                  <a:schemeClr val="bg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 enter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660690" y="514350"/>
            <a:ext cx="6966620" cy="9429262"/>
          </a:xfrm>
          <a:custGeom>
            <a:avLst/>
            <a:gdLst/>
            <a:ahLst/>
            <a:cxnLst/>
            <a:rect l="l" t="t" r="r" b="b"/>
            <a:pathLst>
              <a:path w="6966620" h="9429262">
                <a:moveTo>
                  <a:pt x="0" y="0"/>
                </a:moveTo>
                <a:lnTo>
                  <a:pt x="6966620" y="0"/>
                </a:lnTo>
                <a:lnTo>
                  <a:pt x="6966620" y="9429262"/>
                </a:lnTo>
                <a:lnTo>
                  <a:pt x="0" y="9429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755" r="-75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462741" y="4514822"/>
            <a:ext cx="5021176" cy="3270449"/>
          </a:xfrm>
          <a:custGeom>
            <a:avLst/>
            <a:gdLst/>
            <a:ahLst/>
            <a:cxnLst/>
            <a:rect l="l" t="t" r="r" b="b"/>
            <a:pathLst>
              <a:path w="5021176" h="3270449">
                <a:moveTo>
                  <a:pt x="0" y="0"/>
                </a:moveTo>
                <a:lnTo>
                  <a:pt x="5021176" y="0"/>
                </a:lnTo>
                <a:lnTo>
                  <a:pt x="5021176" y="3270448"/>
                </a:lnTo>
                <a:lnTo>
                  <a:pt x="0" y="32704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1145" t="-39753" r="-22440" b="-40464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13039" y="5441155"/>
            <a:ext cx="425679" cy="708892"/>
          </a:xfrm>
          <a:custGeom>
            <a:avLst/>
            <a:gdLst/>
            <a:ahLst/>
            <a:cxnLst/>
            <a:rect l="l" t="t" r="r" b="b"/>
            <a:pathLst>
              <a:path w="425679" h="708892">
                <a:moveTo>
                  <a:pt x="0" y="0"/>
                </a:moveTo>
                <a:lnTo>
                  <a:pt x="425679" y="0"/>
                </a:lnTo>
                <a:lnTo>
                  <a:pt x="425679" y="708891"/>
                </a:lnTo>
                <a:lnTo>
                  <a:pt x="0" y="7088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6939" r="-6939" b="-5717"/>
            </a:stretch>
          </a:blipFill>
        </p:spPr>
      </p:sp>
      <p:sp>
        <p:nvSpPr>
          <p:cNvPr id="15" name="Freeform 15">
            <a:hlinkClick r:id="rId9" action="ppaction://hlinksldjump"/>
          </p:cNvPr>
          <p:cNvSpPr/>
          <p:nvPr/>
        </p:nvSpPr>
        <p:spPr>
          <a:xfrm>
            <a:off x="8417319" y="7690426"/>
            <a:ext cx="1168603" cy="1967748"/>
          </a:xfrm>
          <a:custGeom>
            <a:avLst/>
            <a:gdLst/>
            <a:ahLst/>
            <a:cxnLst/>
            <a:rect l="l" t="t" r="r" b="b"/>
            <a:pathLst>
              <a:path w="1168603" h="1967748">
                <a:moveTo>
                  <a:pt x="0" y="0"/>
                </a:moveTo>
                <a:lnTo>
                  <a:pt x="1168603" y="0"/>
                </a:lnTo>
                <a:lnTo>
                  <a:pt x="1168603" y="1967748"/>
                </a:lnTo>
                <a:lnTo>
                  <a:pt x="0" y="1967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9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6736727" y="9658174"/>
            <a:ext cx="776629" cy="30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25878" y="3890891"/>
            <a:ext cx="2789975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You’re here!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417319" y="9435515"/>
            <a:ext cx="2577136" cy="36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inside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966417" y="8073408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GROUND FLOOR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812992" y="2156531"/>
            <a:ext cx="6635960" cy="5778378"/>
          </a:xfrm>
          <a:custGeom>
            <a:avLst/>
            <a:gdLst/>
            <a:ahLst/>
            <a:cxnLst/>
            <a:rect l="l" t="t" r="r" b="b"/>
            <a:pathLst>
              <a:path w="6635960" h="5778378">
                <a:moveTo>
                  <a:pt x="0" y="0"/>
                </a:moveTo>
                <a:lnTo>
                  <a:pt x="6635961" y="0"/>
                </a:lnTo>
                <a:lnTo>
                  <a:pt x="6635961" y="5778378"/>
                </a:lnTo>
                <a:lnTo>
                  <a:pt x="0" y="57783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083" r="-8083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062426" y="2156531"/>
            <a:ext cx="4494735" cy="6724509"/>
          </a:xfrm>
          <a:custGeom>
            <a:avLst/>
            <a:gdLst/>
            <a:ahLst/>
            <a:cxnLst/>
            <a:rect l="l" t="t" r="r" b="b"/>
            <a:pathLst>
              <a:path w="4494735" h="6724509">
                <a:moveTo>
                  <a:pt x="0" y="0"/>
                </a:moveTo>
                <a:lnTo>
                  <a:pt x="4494735" y="0"/>
                </a:lnTo>
                <a:lnTo>
                  <a:pt x="4494735" y="6724510"/>
                </a:lnTo>
                <a:lnTo>
                  <a:pt x="0" y="672451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4456" r="-14456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67683" y="2156531"/>
            <a:ext cx="4738912" cy="6724509"/>
          </a:xfrm>
          <a:custGeom>
            <a:avLst/>
            <a:gdLst/>
            <a:ahLst/>
            <a:cxnLst/>
            <a:rect l="l" t="t" r="r" b="b"/>
            <a:pathLst>
              <a:path w="4738912" h="6724509">
                <a:moveTo>
                  <a:pt x="0" y="0"/>
                </a:moveTo>
                <a:lnTo>
                  <a:pt x="4738912" y="0"/>
                </a:lnTo>
                <a:lnTo>
                  <a:pt x="4738912" y="6724510"/>
                </a:lnTo>
                <a:lnTo>
                  <a:pt x="0" y="67245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182" r="-318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736727" y="9639300"/>
            <a:ext cx="712225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00631" y="8900091"/>
            <a:ext cx="8715826" cy="45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interior of the Magaz seen once you enter</a:t>
            </a:r>
          </a:p>
        </p:txBody>
      </p:sp>
      <p:sp>
        <p:nvSpPr>
          <p:cNvPr id="17" name="Freeform 17">
            <a:hlinkClick r:id="rId9" action="ppaction://hlinksldjump"/>
          </p:cNvPr>
          <p:cNvSpPr/>
          <p:nvPr/>
        </p:nvSpPr>
        <p:spPr>
          <a:xfrm>
            <a:off x="2906997" y="5934049"/>
            <a:ext cx="1193635" cy="2009898"/>
          </a:xfrm>
          <a:custGeom>
            <a:avLst/>
            <a:gdLst/>
            <a:ahLst/>
            <a:cxnLst/>
            <a:rect l="l" t="t" r="r" b="b"/>
            <a:pathLst>
              <a:path w="1193635" h="2009898">
                <a:moveTo>
                  <a:pt x="0" y="0"/>
                </a:moveTo>
                <a:lnTo>
                  <a:pt x="1193634" y="0"/>
                </a:lnTo>
                <a:lnTo>
                  <a:pt x="1193634" y="2009899"/>
                </a:lnTo>
                <a:lnTo>
                  <a:pt x="0" y="2009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93"/>
            </a:stretch>
          </a:blipFill>
        </p:spPr>
      </p:sp>
      <p:sp>
        <p:nvSpPr>
          <p:cNvPr id="18" name="Freeform 18">
            <a:hlinkClick r:id="rId11" action="ppaction://hlinksldjump"/>
          </p:cNvPr>
          <p:cNvSpPr/>
          <p:nvPr/>
        </p:nvSpPr>
        <p:spPr>
          <a:xfrm>
            <a:off x="8022072" y="6150848"/>
            <a:ext cx="1193635" cy="2009898"/>
          </a:xfrm>
          <a:custGeom>
            <a:avLst/>
            <a:gdLst/>
            <a:ahLst/>
            <a:cxnLst/>
            <a:rect l="l" t="t" r="r" b="b"/>
            <a:pathLst>
              <a:path w="1193635" h="2009898">
                <a:moveTo>
                  <a:pt x="0" y="0"/>
                </a:moveTo>
                <a:lnTo>
                  <a:pt x="1193635" y="0"/>
                </a:lnTo>
                <a:lnTo>
                  <a:pt x="1193635" y="2009899"/>
                </a:lnTo>
                <a:lnTo>
                  <a:pt x="0" y="200989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93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5625371" y="5587047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1"/>
                </a:lnTo>
                <a:lnTo>
                  <a:pt x="0" y="5638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375937" y="5587047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1"/>
                </a:lnTo>
                <a:lnTo>
                  <a:pt x="0" y="5638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3229459" y="7578570"/>
            <a:ext cx="2577136" cy="36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inside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27139" y="7959008"/>
            <a:ext cx="2577136" cy="34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outside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063098" y="2284755"/>
            <a:ext cx="4399519" cy="5648416"/>
          </a:xfrm>
          <a:custGeom>
            <a:avLst/>
            <a:gdLst/>
            <a:ahLst/>
            <a:cxnLst/>
            <a:rect l="l" t="t" r="r" b="b"/>
            <a:pathLst>
              <a:path w="4399519" h="5648416">
                <a:moveTo>
                  <a:pt x="0" y="0"/>
                </a:moveTo>
                <a:lnTo>
                  <a:pt x="4399519" y="0"/>
                </a:lnTo>
                <a:lnTo>
                  <a:pt x="4399519" y="5648417"/>
                </a:lnTo>
                <a:lnTo>
                  <a:pt x="0" y="564841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b="-3910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719120" y="2415246"/>
            <a:ext cx="6668772" cy="5528702"/>
          </a:xfrm>
          <a:custGeom>
            <a:avLst/>
            <a:gdLst/>
            <a:ahLst/>
            <a:cxnLst/>
            <a:rect l="l" t="t" r="r" b="b"/>
            <a:pathLst>
              <a:path w="6668772" h="5528702">
                <a:moveTo>
                  <a:pt x="0" y="0"/>
                </a:moveTo>
                <a:lnTo>
                  <a:pt x="6668772" y="0"/>
                </a:lnTo>
                <a:lnTo>
                  <a:pt x="6668772" y="5528702"/>
                </a:lnTo>
                <a:lnTo>
                  <a:pt x="0" y="55287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360" r="-1314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611601" y="9563100"/>
            <a:ext cx="776292" cy="30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547367" y="8333178"/>
            <a:ext cx="3734697" cy="77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3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Taking the stairs at the end of the corridor</a:t>
            </a:r>
          </a:p>
        </p:txBody>
      </p:sp>
      <p:sp>
        <p:nvSpPr>
          <p:cNvPr id="16" name="Freeform 16"/>
          <p:cNvSpPr/>
          <p:nvPr/>
        </p:nvSpPr>
        <p:spPr>
          <a:xfrm>
            <a:off x="10282065" y="5518786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2"/>
                </a:lnTo>
                <a:lnTo>
                  <a:pt x="0" y="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1674078" y="8333178"/>
            <a:ext cx="3950932" cy="77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21"/>
              </a:lnSpc>
            </a:pPr>
            <a:r>
              <a:rPr lang="en-US" sz="23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stairs leads to a lobby with bookshelves</a:t>
            </a:r>
          </a:p>
        </p:txBody>
      </p:sp>
      <p:sp>
        <p:nvSpPr>
          <p:cNvPr id="18" name="Freeform 18">
            <a:hlinkClick r:id="rId9" action="ppaction://hlinksldjump"/>
          </p:cNvPr>
          <p:cNvSpPr/>
          <p:nvPr/>
        </p:nvSpPr>
        <p:spPr>
          <a:xfrm rot="2213701">
            <a:off x="16098665" y="5740799"/>
            <a:ext cx="1168603" cy="1967748"/>
          </a:xfrm>
          <a:custGeom>
            <a:avLst/>
            <a:gdLst/>
            <a:ahLst/>
            <a:cxnLst/>
            <a:rect l="l" t="t" r="r" b="b"/>
            <a:pathLst>
              <a:path w="1168603" h="1967748">
                <a:moveTo>
                  <a:pt x="0" y="0"/>
                </a:moveTo>
                <a:lnTo>
                  <a:pt x="1168603" y="0"/>
                </a:lnTo>
                <a:lnTo>
                  <a:pt x="1168603" y="1967748"/>
                </a:lnTo>
                <a:lnTo>
                  <a:pt x="0" y="196774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2293"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15552102" y="7295840"/>
            <a:ext cx="2577136" cy="3653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8"/>
              </a:lnSpc>
            </a:pPr>
            <a:r>
              <a:rPr lang="en-US" sz="2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inside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878" y="3890891"/>
            <a:ext cx="2789975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You’re here!</a:t>
            </a:r>
          </a:p>
        </p:txBody>
      </p:sp>
      <p:sp>
        <p:nvSpPr>
          <p:cNvPr id="21" name="Freeform 21"/>
          <p:cNvSpPr/>
          <p:nvPr/>
        </p:nvSpPr>
        <p:spPr>
          <a:xfrm>
            <a:off x="468015" y="4551862"/>
            <a:ext cx="5337908" cy="3310437"/>
          </a:xfrm>
          <a:custGeom>
            <a:avLst/>
            <a:gdLst/>
            <a:ahLst/>
            <a:cxnLst/>
            <a:rect l="l" t="t" r="r" b="b"/>
            <a:pathLst>
              <a:path w="5337908" h="3310437">
                <a:moveTo>
                  <a:pt x="0" y="0"/>
                </a:moveTo>
                <a:lnTo>
                  <a:pt x="5337908" y="0"/>
                </a:lnTo>
                <a:lnTo>
                  <a:pt x="5337908" y="3310437"/>
                </a:lnTo>
                <a:lnTo>
                  <a:pt x="0" y="331043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0702" t="-50638" r="-17022" b="-4312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259568" y="6082588"/>
            <a:ext cx="466311" cy="642085"/>
          </a:xfrm>
          <a:custGeom>
            <a:avLst/>
            <a:gdLst/>
            <a:ahLst/>
            <a:cxnLst/>
            <a:rect l="l" t="t" r="r" b="b"/>
            <a:pathLst>
              <a:path w="466311" h="642085">
                <a:moveTo>
                  <a:pt x="0" y="0"/>
                </a:moveTo>
                <a:lnTo>
                  <a:pt x="466310" y="0"/>
                </a:lnTo>
                <a:lnTo>
                  <a:pt x="466310" y="642085"/>
                </a:lnTo>
                <a:lnTo>
                  <a:pt x="0" y="64208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104" r="-104" b="-12510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377963" y="8091627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FIRST FLOOR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357409" y="514350"/>
            <a:ext cx="6269580" cy="4893537"/>
          </a:xfrm>
          <a:custGeom>
            <a:avLst/>
            <a:gdLst/>
            <a:ahLst/>
            <a:cxnLst/>
            <a:rect l="l" t="t" r="r" b="b"/>
            <a:pathLst>
              <a:path w="6269580" h="4893537">
                <a:moveTo>
                  <a:pt x="0" y="0"/>
                </a:moveTo>
                <a:lnTo>
                  <a:pt x="6269581" y="0"/>
                </a:lnTo>
                <a:lnTo>
                  <a:pt x="6269581" y="4893537"/>
                </a:lnTo>
                <a:lnTo>
                  <a:pt x="0" y="48935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34" r="-2034"/>
            </a:stretch>
          </a:blipFill>
        </p:spPr>
      </p:sp>
      <p:sp>
        <p:nvSpPr>
          <p:cNvPr id="13" name="Freeform 13">
            <a:hlinkClick r:id="rId7" action="ppaction://hlinksldjump"/>
          </p:cNvPr>
          <p:cNvSpPr/>
          <p:nvPr/>
        </p:nvSpPr>
        <p:spPr>
          <a:xfrm>
            <a:off x="8717761" y="2961119"/>
            <a:ext cx="1034112" cy="1741287"/>
          </a:xfrm>
          <a:custGeom>
            <a:avLst/>
            <a:gdLst/>
            <a:ahLst/>
            <a:cxnLst/>
            <a:rect l="l" t="t" r="r" b="b"/>
            <a:pathLst>
              <a:path w="1034112" h="1741287">
                <a:moveTo>
                  <a:pt x="0" y="0"/>
                </a:moveTo>
                <a:lnTo>
                  <a:pt x="1034112" y="0"/>
                </a:lnTo>
                <a:lnTo>
                  <a:pt x="1034112" y="1741286"/>
                </a:lnTo>
                <a:lnTo>
                  <a:pt x="0" y="174128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9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468015" y="4551862"/>
            <a:ext cx="5337908" cy="3310437"/>
          </a:xfrm>
          <a:custGeom>
            <a:avLst/>
            <a:gdLst/>
            <a:ahLst/>
            <a:cxnLst/>
            <a:rect l="l" t="t" r="r" b="b"/>
            <a:pathLst>
              <a:path w="5337908" h="3310437">
                <a:moveTo>
                  <a:pt x="0" y="0"/>
                </a:moveTo>
                <a:lnTo>
                  <a:pt x="5337908" y="0"/>
                </a:lnTo>
                <a:lnTo>
                  <a:pt x="5337908" y="3310437"/>
                </a:lnTo>
                <a:lnTo>
                  <a:pt x="0" y="331043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20702" t="-50638" r="-17022" b="-43122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492723" y="6294220"/>
            <a:ext cx="466311" cy="642085"/>
          </a:xfrm>
          <a:custGeom>
            <a:avLst/>
            <a:gdLst/>
            <a:ahLst/>
            <a:cxnLst/>
            <a:rect l="l" t="t" r="r" b="b"/>
            <a:pathLst>
              <a:path w="466311" h="642085">
                <a:moveTo>
                  <a:pt x="0" y="0"/>
                </a:moveTo>
                <a:lnTo>
                  <a:pt x="466311" y="0"/>
                </a:lnTo>
                <a:lnTo>
                  <a:pt x="466311" y="642085"/>
                </a:lnTo>
                <a:lnTo>
                  <a:pt x="0" y="6420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104" r="-104" b="-12510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720062" y="3596355"/>
            <a:ext cx="5020862" cy="3623064"/>
          </a:xfrm>
          <a:custGeom>
            <a:avLst/>
            <a:gdLst/>
            <a:ahLst/>
            <a:cxnLst/>
            <a:rect l="l" t="t" r="r" b="b"/>
            <a:pathLst>
              <a:path w="5020862" h="3623064">
                <a:moveTo>
                  <a:pt x="0" y="0"/>
                </a:moveTo>
                <a:lnTo>
                  <a:pt x="5020862" y="0"/>
                </a:lnTo>
                <a:lnTo>
                  <a:pt x="5020862" y="3623064"/>
                </a:lnTo>
                <a:lnTo>
                  <a:pt x="0" y="362306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3877"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135160" y="5501529"/>
            <a:ext cx="6491830" cy="4442082"/>
          </a:xfrm>
          <a:custGeom>
            <a:avLst/>
            <a:gdLst/>
            <a:ahLst/>
            <a:cxnLst/>
            <a:rect l="l" t="t" r="r" b="b"/>
            <a:pathLst>
              <a:path w="6491830" h="4442082">
                <a:moveTo>
                  <a:pt x="0" y="0"/>
                </a:moveTo>
                <a:lnTo>
                  <a:pt x="6491830" y="0"/>
                </a:lnTo>
                <a:lnTo>
                  <a:pt x="6491830" y="4442083"/>
                </a:lnTo>
                <a:lnTo>
                  <a:pt x="0" y="44420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6871" r="-3423" b="-6425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6736727" y="9639300"/>
            <a:ext cx="713073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568577" y="4522536"/>
            <a:ext cx="1332479" cy="3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90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inside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725878" y="3890891"/>
            <a:ext cx="2789975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You’re here!</a:t>
            </a:r>
          </a:p>
        </p:txBody>
      </p:sp>
      <p:sp>
        <p:nvSpPr>
          <p:cNvPr id="21" name="Freeform 21"/>
          <p:cNvSpPr/>
          <p:nvPr/>
        </p:nvSpPr>
        <p:spPr>
          <a:xfrm>
            <a:off x="12189934" y="3831762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2"/>
                </a:lnTo>
                <a:lnTo>
                  <a:pt x="0" y="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rot="5400000">
            <a:off x="6775564" y="5219629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1"/>
                </a:lnTo>
                <a:lnTo>
                  <a:pt x="0" y="5638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377963" y="8091627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FIRST FLOOR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8948" y="212445"/>
            <a:ext cx="1797469" cy="603810"/>
            <a:chOff x="0" y="0"/>
            <a:chExt cx="2396625" cy="805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08" cy="640246"/>
            </a:xfrm>
            <a:custGeom>
              <a:avLst/>
              <a:gdLst/>
              <a:ahLst/>
              <a:cxnLst/>
              <a:rect l="l" t="t" r="r" b="b"/>
              <a:pathLst>
                <a:path w="800308" h="640246">
                  <a:moveTo>
                    <a:pt x="0" y="0"/>
                  </a:moveTo>
                  <a:lnTo>
                    <a:pt x="800308" y="0"/>
                  </a:lnTo>
                  <a:lnTo>
                    <a:pt x="800308" y="640246"/>
                  </a:lnTo>
                  <a:lnTo>
                    <a:pt x="0" y="640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630049" y="199720"/>
              <a:ext cx="1766576" cy="404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3"/>
                </a:lnSpc>
                <a:spcBef>
                  <a:spcPct val="0"/>
                </a:spcBef>
              </a:pPr>
              <a:r>
                <a:rPr lang="en-US" sz="1866">
                  <a:solidFill>
                    <a:srgbClr val="D5D7DD"/>
                  </a:solidFill>
                  <a:latin typeface="Brittany"/>
                  <a:ea typeface="Brittany"/>
                  <a:cs typeface="Brittany"/>
                  <a:sym typeface="Brittany"/>
                </a:rPr>
                <a:t>Hadeel Zakaria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97001"/>
              <a:ext cx="1658192" cy="108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8"/>
                </a:lnSpc>
                <a:spcBef>
                  <a:spcPct val="0"/>
                </a:spcBef>
              </a:pPr>
              <a:r>
                <a:rPr lang="en-US" sz="563" spc="56">
                  <a:solidFill>
                    <a:srgbClr val="D5D7DD"/>
                  </a:solidFill>
                  <a:latin typeface="Open Sans"/>
                  <a:ea typeface="Open Sans"/>
                  <a:cs typeface="Open Sans"/>
                  <a:sym typeface="Open Sans"/>
                </a:rPr>
                <a:t>VISIONARY BY DESIGN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5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>
            <a:hlinkClick r:id="rId5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67683" y="1893423"/>
            <a:ext cx="4767719" cy="6050525"/>
          </a:xfrm>
          <a:custGeom>
            <a:avLst/>
            <a:gdLst/>
            <a:ahLst/>
            <a:cxnLst/>
            <a:rect l="l" t="t" r="r" b="b"/>
            <a:pathLst>
              <a:path w="4767719" h="6050525">
                <a:moveTo>
                  <a:pt x="0" y="0"/>
                </a:moveTo>
                <a:lnTo>
                  <a:pt x="4767718" y="0"/>
                </a:lnTo>
                <a:lnTo>
                  <a:pt x="4767718" y="6050525"/>
                </a:lnTo>
                <a:lnTo>
                  <a:pt x="0" y="605052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2532" b="-2532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6620533" y="1893423"/>
            <a:ext cx="4767719" cy="6050525"/>
          </a:xfrm>
          <a:custGeom>
            <a:avLst/>
            <a:gdLst/>
            <a:ahLst/>
            <a:cxnLst/>
            <a:rect l="l" t="t" r="r" b="b"/>
            <a:pathLst>
              <a:path w="4767719" h="6050525">
                <a:moveTo>
                  <a:pt x="0" y="0"/>
                </a:moveTo>
                <a:lnTo>
                  <a:pt x="4767719" y="0"/>
                </a:lnTo>
                <a:lnTo>
                  <a:pt x="4767719" y="6050525"/>
                </a:lnTo>
                <a:lnTo>
                  <a:pt x="0" y="60505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t="-2532" b="-2532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173383" y="1893423"/>
            <a:ext cx="4765070" cy="6050525"/>
          </a:xfrm>
          <a:custGeom>
            <a:avLst/>
            <a:gdLst/>
            <a:ahLst/>
            <a:cxnLst/>
            <a:rect l="l" t="t" r="r" b="b"/>
            <a:pathLst>
              <a:path w="4765070" h="6050525">
                <a:moveTo>
                  <a:pt x="0" y="0"/>
                </a:moveTo>
                <a:lnTo>
                  <a:pt x="4765070" y="0"/>
                </a:lnTo>
                <a:lnTo>
                  <a:pt x="4765070" y="6050525"/>
                </a:lnTo>
                <a:lnTo>
                  <a:pt x="0" y="605052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2532" b="-2532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6736727" y="9639300"/>
            <a:ext cx="789273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20533" y="8170283"/>
            <a:ext cx="4236498" cy="446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7"/>
              </a:lnSpc>
            </a:pPr>
            <a:r>
              <a:rPr lang="en-US" sz="26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View from the balcony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46422" y="4918685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2"/>
                </a:lnTo>
                <a:lnTo>
                  <a:pt x="0" y="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299272" y="4918685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2"/>
                </a:lnTo>
                <a:lnTo>
                  <a:pt x="0" y="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68015" y="4551862"/>
            <a:ext cx="5337908" cy="3310437"/>
          </a:xfrm>
          <a:custGeom>
            <a:avLst/>
            <a:gdLst/>
            <a:ahLst/>
            <a:cxnLst/>
            <a:rect l="l" t="t" r="r" b="b"/>
            <a:pathLst>
              <a:path w="5337908" h="3310437">
                <a:moveTo>
                  <a:pt x="0" y="0"/>
                </a:moveTo>
                <a:lnTo>
                  <a:pt x="5337908" y="0"/>
                </a:lnTo>
                <a:lnTo>
                  <a:pt x="5337908" y="3310437"/>
                </a:lnTo>
                <a:lnTo>
                  <a:pt x="0" y="33104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702" t="-50638" r="-17022" b="-43122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2903814" y="6207081"/>
            <a:ext cx="466311" cy="642085"/>
          </a:xfrm>
          <a:custGeom>
            <a:avLst/>
            <a:gdLst/>
            <a:ahLst/>
            <a:cxnLst/>
            <a:rect l="l" t="t" r="r" b="b"/>
            <a:pathLst>
              <a:path w="466311" h="642085">
                <a:moveTo>
                  <a:pt x="0" y="0"/>
                </a:moveTo>
                <a:lnTo>
                  <a:pt x="466310" y="0"/>
                </a:lnTo>
                <a:lnTo>
                  <a:pt x="466310" y="642085"/>
                </a:lnTo>
                <a:lnTo>
                  <a:pt x="0" y="64208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4" r="-104" b="-12510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0496191" y="2023845"/>
            <a:ext cx="4765070" cy="6356958"/>
          </a:xfrm>
          <a:custGeom>
            <a:avLst/>
            <a:gdLst/>
            <a:ahLst/>
            <a:cxnLst/>
            <a:rect l="l" t="t" r="r" b="b"/>
            <a:pathLst>
              <a:path w="4765070" h="6356958">
                <a:moveTo>
                  <a:pt x="0" y="0"/>
                </a:moveTo>
                <a:lnTo>
                  <a:pt x="4765070" y="0"/>
                </a:lnTo>
                <a:lnTo>
                  <a:pt x="4765070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5998852" y="2023845"/>
            <a:ext cx="4306839" cy="6356958"/>
          </a:xfrm>
          <a:custGeom>
            <a:avLst/>
            <a:gdLst/>
            <a:ahLst/>
            <a:cxnLst/>
            <a:rect l="l" t="t" r="r" b="b"/>
            <a:pathLst>
              <a:path w="4306839" h="6356958">
                <a:moveTo>
                  <a:pt x="0" y="0"/>
                </a:moveTo>
                <a:lnTo>
                  <a:pt x="4306839" y="0"/>
                </a:lnTo>
                <a:lnTo>
                  <a:pt x="430683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5561796" y="5202324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2"/>
                </a:lnTo>
                <a:lnTo>
                  <a:pt x="0" y="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6736727" y="9563100"/>
            <a:ext cx="776629" cy="30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5878" y="3890891"/>
            <a:ext cx="2789975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You’re here!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332580" y="8660561"/>
            <a:ext cx="8715826" cy="454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3"/>
              </a:lnSpc>
            </a:pPr>
            <a:r>
              <a:rPr lang="en-US" sz="27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Taking this corridor, it will take you to the library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77963" y="8091627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FIRST FLOOR</a:t>
            </a:r>
          </a:p>
        </p:txBody>
      </p:sp>
      <p:sp>
        <p:nvSpPr>
          <p:cNvPr id="21" name="Freeform 21"/>
          <p:cNvSpPr/>
          <p:nvPr/>
        </p:nvSpPr>
        <p:spPr>
          <a:xfrm>
            <a:off x="9868635" y="5202324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2" y="0"/>
                </a:lnTo>
                <a:lnTo>
                  <a:pt x="874112" y="563802"/>
                </a:lnTo>
                <a:lnTo>
                  <a:pt x="0" y="563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FC7633D9-78EB-E44E-AD77-A6458B340F48}"/>
              </a:ext>
            </a:extLst>
          </p:cNvPr>
          <p:cNvSpPr txBox="1"/>
          <p:nvPr/>
        </p:nvSpPr>
        <p:spPr>
          <a:xfrm>
            <a:off x="12382166" y="7192978"/>
            <a:ext cx="1332479" cy="3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906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inside</a:t>
            </a:r>
          </a:p>
        </p:txBody>
      </p:sp>
      <p:sp>
        <p:nvSpPr>
          <p:cNvPr id="23" name="Freeform 13">
            <a:hlinkClick r:id="rId11" action="ppaction://hlinksldjump"/>
            <a:extLst>
              <a:ext uri="{FF2B5EF4-FFF2-40B4-BE49-F238E27FC236}">
                <a16:creationId xmlns:a16="http://schemas.microsoft.com/office/drawing/2014/main" id="{8BE32673-49FD-4035-61FD-62A98D115566}"/>
              </a:ext>
            </a:extLst>
          </p:cNvPr>
          <p:cNvSpPr/>
          <p:nvPr/>
        </p:nvSpPr>
        <p:spPr>
          <a:xfrm>
            <a:off x="12475544" y="5672360"/>
            <a:ext cx="1034112" cy="1741287"/>
          </a:xfrm>
          <a:custGeom>
            <a:avLst/>
            <a:gdLst/>
            <a:ahLst/>
            <a:cxnLst/>
            <a:rect l="l" t="t" r="r" b="b"/>
            <a:pathLst>
              <a:path w="1034112" h="1741287">
                <a:moveTo>
                  <a:pt x="0" y="0"/>
                </a:moveTo>
                <a:lnTo>
                  <a:pt x="1034112" y="0"/>
                </a:lnTo>
                <a:lnTo>
                  <a:pt x="1034112" y="1741286"/>
                </a:lnTo>
                <a:lnTo>
                  <a:pt x="0" y="174128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293"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68015" y="4551862"/>
            <a:ext cx="5337908" cy="3310437"/>
          </a:xfrm>
          <a:custGeom>
            <a:avLst/>
            <a:gdLst/>
            <a:ahLst/>
            <a:cxnLst/>
            <a:rect l="l" t="t" r="r" b="b"/>
            <a:pathLst>
              <a:path w="5337908" h="3310437">
                <a:moveTo>
                  <a:pt x="0" y="0"/>
                </a:moveTo>
                <a:lnTo>
                  <a:pt x="5337908" y="0"/>
                </a:lnTo>
                <a:lnTo>
                  <a:pt x="5337908" y="3310437"/>
                </a:lnTo>
                <a:lnTo>
                  <a:pt x="0" y="33104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0702" t="-50638" r="-17022" b="-4312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136969" y="5886038"/>
            <a:ext cx="466311" cy="642085"/>
          </a:xfrm>
          <a:custGeom>
            <a:avLst/>
            <a:gdLst/>
            <a:ahLst/>
            <a:cxnLst/>
            <a:rect l="l" t="t" r="r" b="b"/>
            <a:pathLst>
              <a:path w="466311" h="642085">
                <a:moveTo>
                  <a:pt x="0" y="0"/>
                </a:moveTo>
                <a:lnTo>
                  <a:pt x="466311" y="0"/>
                </a:lnTo>
                <a:lnTo>
                  <a:pt x="466311" y="642085"/>
                </a:lnTo>
                <a:lnTo>
                  <a:pt x="0" y="6420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4" r="-104" b="-12510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5952462" y="816255"/>
            <a:ext cx="5780009" cy="8442045"/>
          </a:xfrm>
          <a:custGeom>
            <a:avLst/>
            <a:gdLst/>
            <a:ahLst/>
            <a:cxnLst/>
            <a:rect l="l" t="t" r="r" b="b"/>
            <a:pathLst>
              <a:path w="5780009" h="8442045">
                <a:moveTo>
                  <a:pt x="0" y="0"/>
                </a:moveTo>
                <a:lnTo>
                  <a:pt x="5780009" y="0"/>
                </a:lnTo>
                <a:lnTo>
                  <a:pt x="5780009" y="8442045"/>
                </a:lnTo>
                <a:lnTo>
                  <a:pt x="0" y="84420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740" r="-4740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1875346" y="779087"/>
            <a:ext cx="4483109" cy="4596257"/>
          </a:xfrm>
          <a:custGeom>
            <a:avLst/>
            <a:gdLst/>
            <a:ahLst/>
            <a:cxnLst/>
            <a:rect l="l" t="t" r="r" b="b"/>
            <a:pathLst>
              <a:path w="4483109" h="4596257">
                <a:moveTo>
                  <a:pt x="0" y="0"/>
                </a:moveTo>
                <a:lnTo>
                  <a:pt x="4483109" y="0"/>
                </a:lnTo>
                <a:lnTo>
                  <a:pt x="4483109" y="4596257"/>
                </a:lnTo>
                <a:lnTo>
                  <a:pt x="0" y="459625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1688" b="-836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1875346" y="5497067"/>
            <a:ext cx="4601458" cy="3451093"/>
          </a:xfrm>
          <a:custGeom>
            <a:avLst/>
            <a:gdLst/>
            <a:ahLst/>
            <a:cxnLst/>
            <a:rect l="l" t="t" r="r" b="b"/>
            <a:pathLst>
              <a:path w="4601458" h="3451093">
                <a:moveTo>
                  <a:pt x="0" y="0"/>
                </a:moveTo>
                <a:lnTo>
                  <a:pt x="4601458" y="0"/>
                </a:lnTo>
                <a:lnTo>
                  <a:pt x="4601458" y="3451094"/>
                </a:lnTo>
                <a:lnTo>
                  <a:pt x="0" y="34510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736727" y="9620074"/>
            <a:ext cx="651165" cy="323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>
            <a:hlinkClick r:id="rId8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7" name="Freeform 17">
            <a:hlinkClick r:id="rId8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725878" y="3890891"/>
            <a:ext cx="2789975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You’re here!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377963" y="8091627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FIRST FLOOR</a:t>
            </a:r>
          </a:p>
        </p:txBody>
      </p:sp>
      <p:sp>
        <p:nvSpPr>
          <p:cNvPr id="20" name="Freeform 20"/>
          <p:cNvSpPr/>
          <p:nvPr/>
        </p:nvSpPr>
        <p:spPr>
          <a:xfrm>
            <a:off x="11438291" y="3663703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1"/>
                </a:lnTo>
                <a:lnTo>
                  <a:pt x="0" y="5638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 rot="5400000">
            <a:off x="14020920" y="5298655"/>
            <a:ext cx="874111" cy="563802"/>
          </a:xfrm>
          <a:custGeom>
            <a:avLst/>
            <a:gdLst/>
            <a:ahLst/>
            <a:cxnLst/>
            <a:rect l="l" t="t" r="r" b="b"/>
            <a:pathLst>
              <a:path w="874111" h="563802">
                <a:moveTo>
                  <a:pt x="0" y="0"/>
                </a:moveTo>
                <a:lnTo>
                  <a:pt x="874111" y="0"/>
                </a:lnTo>
                <a:lnTo>
                  <a:pt x="874111" y="563801"/>
                </a:lnTo>
                <a:lnTo>
                  <a:pt x="0" y="5638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Freeform 22">
            <a:hlinkClick r:id="rId12" action="ppaction://hlinksldjump"/>
          </p:cNvPr>
          <p:cNvSpPr/>
          <p:nvPr/>
        </p:nvSpPr>
        <p:spPr>
          <a:xfrm>
            <a:off x="5955107" y="6207081"/>
            <a:ext cx="1034112" cy="1741287"/>
          </a:xfrm>
          <a:custGeom>
            <a:avLst/>
            <a:gdLst/>
            <a:ahLst/>
            <a:cxnLst/>
            <a:rect l="l" t="t" r="r" b="b"/>
            <a:pathLst>
              <a:path w="1034112" h="1741287">
                <a:moveTo>
                  <a:pt x="0" y="0"/>
                </a:moveTo>
                <a:lnTo>
                  <a:pt x="1034112" y="0"/>
                </a:lnTo>
                <a:lnTo>
                  <a:pt x="1034112" y="1741286"/>
                </a:lnTo>
                <a:lnTo>
                  <a:pt x="0" y="174128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2293"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5805923" y="7768498"/>
            <a:ext cx="1819572" cy="3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9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See upstairs</a:t>
            </a:r>
          </a:p>
        </p:txBody>
      </p:sp>
      <p:sp>
        <p:nvSpPr>
          <p:cNvPr id="24" name="TextBox 17">
            <a:extLst>
              <a:ext uri="{FF2B5EF4-FFF2-40B4-BE49-F238E27FC236}">
                <a16:creationId xmlns:a16="http://schemas.microsoft.com/office/drawing/2014/main" id="{7109A760-BC9F-5734-2946-FDCBF59C7255}"/>
              </a:ext>
            </a:extLst>
          </p:cNvPr>
          <p:cNvSpPr txBox="1"/>
          <p:nvPr/>
        </p:nvSpPr>
        <p:spPr>
          <a:xfrm>
            <a:off x="16736727" y="9563100"/>
            <a:ext cx="776629" cy="30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28700" y="1869962"/>
            <a:ext cx="4910307" cy="6547075"/>
          </a:xfrm>
          <a:custGeom>
            <a:avLst/>
            <a:gdLst/>
            <a:ahLst/>
            <a:cxnLst/>
            <a:rect l="l" t="t" r="r" b="b"/>
            <a:pathLst>
              <a:path w="4910307" h="6547075">
                <a:moveTo>
                  <a:pt x="0" y="0"/>
                </a:moveTo>
                <a:lnTo>
                  <a:pt x="4910307" y="0"/>
                </a:lnTo>
                <a:lnTo>
                  <a:pt x="4910307" y="6547076"/>
                </a:lnTo>
                <a:lnTo>
                  <a:pt x="0" y="65470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736727" y="9639300"/>
            <a:ext cx="776629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4" name="Freeform 14"/>
          <p:cNvSpPr/>
          <p:nvPr/>
        </p:nvSpPr>
        <p:spPr>
          <a:xfrm>
            <a:off x="6110337" y="1816418"/>
            <a:ext cx="4987850" cy="6654163"/>
          </a:xfrm>
          <a:custGeom>
            <a:avLst/>
            <a:gdLst/>
            <a:ahLst/>
            <a:cxnLst/>
            <a:rect l="l" t="t" r="r" b="b"/>
            <a:pathLst>
              <a:path w="4987850" h="6654163">
                <a:moveTo>
                  <a:pt x="0" y="0"/>
                </a:moveTo>
                <a:lnTo>
                  <a:pt x="4987849" y="0"/>
                </a:lnTo>
                <a:lnTo>
                  <a:pt x="4987849" y="6654164"/>
                </a:lnTo>
                <a:lnTo>
                  <a:pt x="0" y="66541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267455" y="1816418"/>
            <a:ext cx="4990622" cy="6654163"/>
          </a:xfrm>
          <a:custGeom>
            <a:avLst/>
            <a:gdLst/>
            <a:ahLst/>
            <a:cxnLst/>
            <a:rect l="l" t="t" r="r" b="b"/>
            <a:pathLst>
              <a:path w="4990622" h="6654163">
                <a:moveTo>
                  <a:pt x="0" y="0"/>
                </a:moveTo>
                <a:lnTo>
                  <a:pt x="4990622" y="0"/>
                </a:lnTo>
                <a:lnTo>
                  <a:pt x="4990622" y="6654164"/>
                </a:lnTo>
                <a:lnTo>
                  <a:pt x="0" y="66541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6611265" y="9639300"/>
            <a:ext cx="776628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3" name="Freeform 13"/>
          <p:cNvSpPr/>
          <p:nvPr/>
        </p:nvSpPr>
        <p:spPr>
          <a:xfrm>
            <a:off x="5154998" y="2794219"/>
            <a:ext cx="8555457" cy="5149729"/>
          </a:xfrm>
          <a:custGeom>
            <a:avLst/>
            <a:gdLst/>
            <a:ahLst/>
            <a:cxnLst/>
            <a:rect l="l" t="t" r="r" b="b"/>
            <a:pathLst>
              <a:path w="8555457" h="5149729">
                <a:moveTo>
                  <a:pt x="0" y="0"/>
                </a:moveTo>
                <a:lnTo>
                  <a:pt x="8555457" y="0"/>
                </a:lnTo>
                <a:lnTo>
                  <a:pt x="8555457" y="5149729"/>
                </a:lnTo>
                <a:lnTo>
                  <a:pt x="0" y="5149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080" t="-71371" r="-38201" b="-68045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392635" y="5033726"/>
            <a:ext cx="500413" cy="752945"/>
          </a:xfrm>
          <a:custGeom>
            <a:avLst/>
            <a:gdLst/>
            <a:ahLst/>
            <a:cxnLst/>
            <a:rect l="l" t="t" r="r" b="b"/>
            <a:pathLst>
              <a:path w="537721" h="752945">
                <a:moveTo>
                  <a:pt x="0" y="0"/>
                </a:moveTo>
                <a:lnTo>
                  <a:pt x="537721" y="0"/>
                </a:lnTo>
                <a:lnTo>
                  <a:pt x="537721" y="752946"/>
                </a:lnTo>
                <a:lnTo>
                  <a:pt x="0" y="7529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92" r="-4992" b="-21431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567985" y="1507164"/>
            <a:ext cx="2789975" cy="571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Courtyard!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18746" y="8423984"/>
            <a:ext cx="3427960" cy="289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36"/>
              </a:lnSpc>
              <a:spcBef>
                <a:spcPct val="0"/>
              </a:spcBef>
            </a:pPr>
            <a:r>
              <a:rPr lang="en-US" sz="1740" b="1">
                <a:solidFill>
                  <a:srgbClr val="A7734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GROUND FLOOR</a:t>
            </a:r>
          </a:p>
        </p:txBody>
      </p:sp>
      <p:sp>
        <p:nvSpPr>
          <p:cNvPr id="17" name="Freeform 17">
            <a:hlinkClick r:id="rId8" action="ppaction://hlinksldjump"/>
          </p:cNvPr>
          <p:cNvSpPr/>
          <p:nvPr/>
        </p:nvSpPr>
        <p:spPr>
          <a:xfrm>
            <a:off x="9369882" y="5072036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1" y="0"/>
                </a:lnTo>
                <a:lnTo>
                  <a:pt x="712641" y="459654"/>
                </a:lnTo>
                <a:lnTo>
                  <a:pt x="0" y="459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9" name="Freeform 19">
            <a:hlinkClick r:id="rId10" action="ppaction://hlinksldjump"/>
          </p:cNvPr>
          <p:cNvSpPr/>
          <p:nvPr/>
        </p:nvSpPr>
        <p:spPr>
          <a:xfrm rot="-5117225">
            <a:off x="9000474" y="4698037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2" y="0"/>
                </a:lnTo>
                <a:lnTo>
                  <a:pt x="712642" y="459654"/>
                </a:lnTo>
                <a:lnTo>
                  <a:pt x="0" y="459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>
            <a:hlinkClick r:id="rId11" action="ppaction://hlinksldjump"/>
          </p:cNvPr>
          <p:cNvSpPr/>
          <p:nvPr/>
        </p:nvSpPr>
        <p:spPr>
          <a:xfrm rot="8301728">
            <a:off x="7183761" y="5212409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2" y="0"/>
                </a:lnTo>
                <a:lnTo>
                  <a:pt x="712642" y="459653"/>
                </a:lnTo>
                <a:lnTo>
                  <a:pt x="0" y="45965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2" name="Freeform 22">
            <a:hlinkClick r:id="rId12" action="ppaction://hlinksldjump"/>
          </p:cNvPr>
          <p:cNvSpPr/>
          <p:nvPr/>
        </p:nvSpPr>
        <p:spPr>
          <a:xfrm rot="2843031">
            <a:off x="8997035" y="5557087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1" y="0"/>
                </a:lnTo>
                <a:lnTo>
                  <a:pt x="712641" y="459654"/>
                </a:lnTo>
                <a:lnTo>
                  <a:pt x="0" y="459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3" name="Freeform 23">
            <a:hlinkClick r:id="rId13" action="ppaction://hlinksldjump"/>
          </p:cNvPr>
          <p:cNvSpPr/>
          <p:nvPr/>
        </p:nvSpPr>
        <p:spPr>
          <a:xfrm rot="11572238">
            <a:off x="7910033" y="4698036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1" y="0"/>
                </a:lnTo>
                <a:lnTo>
                  <a:pt x="712641" y="459654"/>
                </a:lnTo>
                <a:lnTo>
                  <a:pt x="0" y="4596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426296" y="801912"/>
            <a:ext cx="7435408" cy="8998981"/>
          </a:xfrm>
          <a:custGeom>
            <a:avLst/>
            <a:gdLst/>
            <a:ahLst/>
            <a:cxnLst/>
            <a:rect l="l" t="t" r="r" b="b"/>
            <a:pathLst>
              <a:path w="7435408" h="8998981">
                <a:moveTo>
                  <a:pt x="0" y="0"/>
                </a:moveTo>
                <a:lnTo>
                  <a:pt x="7435408" y="0"/>
                </a:lnTo>
                <a:lnTo>
                  <a:pt x="7435408" y="8998981"/>
                </a:lnTo>
                <a:lnTo>
                  <a:pt x="0" y="899898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611265" y="9639300"/>
            <a:ext cx="776628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154998" y="2794219"/>
            <a:ext cx="8555457" cy="5149729"/>
          </a:xfrm>
          <a:custGeom>
            <a:avLst/>
            <a:gdLst/>
            <a:ahLst/>
            <a:cxnLst/>
            <a:rect l="l" t="t" r="r" b="b"/>
            <a:pathLst>
              <a:path w="8555457" h="5149729">
                <a:moveTo>
                  <a:pt x="0" y="0"/>
                </a:moveTo>
                <a:lnTo>
                  <a:pt x="8555457" y="0"/>
                </a:lnTo>
                <a:lnTo>
                  <a:pt x="8555457" y="5149729"/>
                </a:lnTo>
                <a:lnTo>
                  <a:pt x="0" y="51497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8080" t="-71371" r="-38201" b="-68045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326177" y="4395373"/>
            <a:ext cx="773924" cy="1083689"/>
          </a:xfrm>
          <a:custGeom>
            <a:avLst/>
            <a:gdLst/>
            <a:ahLst/>
            <a:cxnLst/>
            <a:rect l="l" t="t" r="r" b="b"/>
            <a:pathLst>
              <a:path w="773924" h="1083689">
                <a:moveTo>
                  <a:pt x="0" y="0"/>
                </a:moveTo>
                <a:lnTo>
                  <a:pt x="773924" y="0"/>
                </a:lnTo>
                <a:lnTo>
                  <a:pt x="773924" y="1083688"/>
                </a:lnTo>
                <a:lnTo>
                  <a:pt x="0" y="10836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4992" r="-4992" b="-21431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9369882" y="5072036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1" y="0"/>
                </a:lnTo>
                <a:lnTo>
                  <a:pt x="712641" y="459654"/>
                </a:lnTo>
                <a:lnTo>
                  <a:pt x="0" y="4596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5400000">
            <a:off x="8356818" y="5658184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2" y="0"/>
                </a:lnTo>
                <a:lnTo>
                  <a:pt x="712642" y="459653"/>
                </a:lnTo>
                <a:lnTo>
                  <a:pt x="0" y="459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 rot="-5117225">
            <a:off x="9000474" y="4698037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2" y="0"/>
                </a:lnTo>
                <a:lnTo>
                  <a:pt x="712642" y="459654"/>
                </a:lnTo>
                <a:lnTo>
                  <a:pt x="0" y="4596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 rot="-8322372">
            <a:off x="7090868" y="5120651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2" y="0"/>
                </a:lnTo>
                <a:lnTo>
                  <a:pt x="712642" y="459653"/>
                </a:lnTo>
                <a:lnTo>
                  <a:pt x="0" y="459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 rot="1075192">
            <a:off x="7412725" y="4585232"/>
            <a:ext cx="712641" cy="459654"/>
          </a:xfrm>
          <a:custGeom>
            <a:avLst/>
            <a:gdLst/>
            <a:ahLst/>
            <a:cxnLst/>
            <a:rect l="l" t="t" r="r" b="b"/>
            <a:pathLst>
              <a:path w="712641" h="459654">
                <a:moveTo>
                  <a:pt x="0" y="0"/>
                </a:moveTo>
                <a:lnTo>
                  <a:pt x="712641" y="0"/>
                </a:lnTo>
                <a:lnTo>
                  <a:pt x="712641" y="459653"/>
                </a:lnTo>
                <a:lnTo>
                  <a:pt x="0" y="45965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152671" y="1118254"/>
            <a:ext cx="9557784" cy="8140046"/>
          </a:xfrm>
          <a:custGeom>
            <a:avLst/>
            <a:gdLst/>
            <a:ahLst/>
            <a:cxnLst/>
            <a:rect l="l" t="t" r="r" b="b"/>
            <a:pathLst>
              <a:path w="9557784" h="8140046">
                <a:moveTo>
                  <a:pt x="0" y="0"/>
                </a:moveTo>
                <a:lnTo>
                  <a:pt x="9557784" y="0"/>
                </a:lnTo>
                <a:lnTo>
                  <a:pt x="9557784" y="8140046"/>
                </a:lnTo>
                <a:lnTo>
                  <a:pt x="0" y="81400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6687801" y="9715500"/>
            <a:ext cx="700092" cy="30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21" name="Freeform 21">
            <a:hlinkClick r:id="rId10" action="ppaction://hlinksldjump"/>
          </p:cNvPr>
          <p:cNvSpPr/>
          <p:nvPr/>
        </p:nvSpPr>
        <p:spPr>
          <a:xfrm>
            <a:off x="9875386" y="6244331"/>
            <a:ext cx="1034112" cy="1741287"/>
          </a:xfrm>
          <a:custGeom>
            <a:avLst/>
            <a:gdLst/>
            <a:ahLst/>
            <a:cxnLst/>
            <a:rect l="l" t="t" r="r" b="b"/>
            <a:pathLst>
              <a:path w="1034112" h="1741287">
                <a:moveTo>
                  <a:pt x="0" y="0"/>
                </a:moveTo>
                <a:lnTo>
                  <a:pt x="1034112" y="0"/>
                </a:lnTo>
                <a:lnTo>
                  <a:pt x="1034112" y="1741287"/>
                </a:lnTo>
                <a:lnTo>
                  <a:pt x="0" y="174128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2293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9726202" y="7805748"/>
            <a:ext cx="1819572" cy="3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9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Zoom in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4810343" y="689393"/>
            <a:ext cx="8667314" cy="9111500"/>
          </a:xfrm>
          <a:custGeom>
            <a:avLst/>
            <a:gdLst/>
            <a:ahLst/>
            <a:cxnLst/>
            <a:rect l="l" t="t" r="r" b="b"/>
            <a:pathLst>
              <a:path w="8667314" h="9111500">
                <a:moveTo>
                  <a:pt x="0" y="0"/>
                </a:moveTo>
                <a:lnTo>
                  <a:pt x="8667314" y="0"/>
                </a:lnTo>
                <a:lnTo>
                  <a:pt x="8667314" y="9111500"/>
                </a:lnTo>
                <a:lnTo>
                  <a:pt x="0" y="91115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611601" y="9639300"/>
            <a:ext cx="776292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4031" y="1684287"/>
            <a:ext cx="5909672" cy="606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44"/>
              </a:lnSpc>
            </a:pPr>
            <a:r>
              <a:rPr lang="en-US" sz="36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Gate of Bayt Qura’a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28786" y="944630"/>
            <a:ext cx="6745486" cy="8998981"/>
          </a:xfrm>
          <a:custGeom>
            <a:avLst/>
            <a:gdLst/>
            <a:ahLst/>
            <a:cxnLst/>
            <a:rect l="l" t="t" r="r" b="b"/>
            <a:pathLst>
              <a:path w="6745486" h="8998981">
                <a:moveTo>
                  <a:pt x="0" y="0"/>
                </a:moveTo>
                <a:lnTo>
                  <a:pt x="6745487" y="0"/>
                </a:lnTo>
                <a:lnTo>
                  <a:pt x="6745487" y="8998982"/>
                </a:lnTo>
                <a:lnTo>
                  <a:pt x="0" y="8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736727" y="9639300"/>
            <a:ext cx="776629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  <p:sp>
        <p:nvSpPr>
          <p:cNvPr id="14" name="Freeform 14">
            <a:hlinkClick r:id="rId7" action="ppaction://hlinksldjump"/>
          </p:cNvPr>
          <p:cNvSpPr/>
          <p:nvPr/>
        </p:nvSpPr>
        <p:spPr>
          <a:xfrm>
            <a:off x="10231141" y="6737306"/>
            <a:ext cx="1034112" cy="1741287"/>
          </a:xfrm>
          <a:custGeom>
            <a:avLst/>
            <a:gdLst/>
            <a:ahLst/>
            <a:cxnLst/>
            <a:rect l="l" t="t" r="r" b="b"/>
            <a:pathLst>
              <a:path w="1034112" h="1741287">
                <a:moveTo>
                  <a:pt x="0" y="0"/>
                </a:moveTo>
                <a:lnTo>
                  <a:pt x="1034112" y="0"/>
                </a:lnTo>
                <a:lnTo>
                  <a:pt x="1034112" y="1741287"/>
                </a:lnTo>
                <a:lnTo>
                  <a:pt x="0" y="1741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293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081958" y="8298723"/>
            <a:ext cx="1819572" cy="321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190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Zoom in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8948" y="212445"/>
            <a:ext cx="1797469" cy="603810"/>
            <a:chOff x="0" y="0"/>
            <a:chExt cx="2396625" cy="80508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00308" cy="640246"/>
            </a:xfrm>
            <a:custGeom>
              <a:avLst/>
              <a:gdLst/>
              <a:ahLst/>
              <a:cxnLst/>
              <a:rect l="l" t="t" r="r" b="b"/>
              <a:pathLst>
                <a:path w="800308" h="640246">
                  <a:moveTo>
                    <a:pt x="0" y="0"/>
                  </a:moveTo>
                  <a:lnTo>
                    <a:pt x="800308" y="0"/>
                  </a:lnTo>
                  <a:lnTo>
                    <a:pt x="800308" y="640246"/>
                  </a:lnTo>
                  <a:lnTo>
                    <a:pt x="0" y="640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630049" y="199720"/>
              <a:ext cx="1766576" cy="4045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13"/>
                </a:lnSpc>
                <a:spcBef>
                  <a:spcPct val="0"/>
                </a:spcBef>
              </a:pPr>
              <a:r>
                <a:rPr lang="en-US" sz="1866">
                  <a:solidFill>
                    <a:srgbClr val="D5D7DD"/>
                  </a:solidFill>
                  <a:latin typeface="Brittany"/>
                  <a:ea typeface="Brittany"/>
                  <a:cs typeface="Brittany"/>
                  <a:sym typeface="Brittany"/>
                </a:rPr>
                <a:t>Hadeel Zakaria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697001"/>
              <a:ext cx="1658192" cy="1080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88"/>
                </a:lnSpc>
                <a:spcBef>
                  <a:spcPct val="0"/>
                </a:spcBef>
              </a:pPr>
              <a:r>
                <a:rPr lang="en-US" sz="563" spc="56">
                  <a:solidFill>
                    <a:srgbClr val="D5D7DD"/>
                  </a:solidFill>
                  <a:latin typeface="Open Sans"/>
                  <a:ea typeface="Open Sans"/>
                  <a:cs typeface="Open Sans"/>
                  <a:sym typeface="Open Sans"/>
                </a:rPr>
                <a:t>VISIONARY BY DESIGN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5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>
            <a:hlinkClick r:id="rId5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28786" y="944630"/>
            <a:ext cx="6745486" cy="8998981"/>
          </a:xfrm>
          <a:custGeom>
            <a:avLst/>
            <a:gdLst/>
            <a:ahLst/>
            <a:cxnLst/>
            <a:rect l="l" t="t" r="r" b="b"/>
            <a:pathLst>
              <a:path w="6745486" h="8998981">
                <a:moveTo>
                  <a:pt x="0" y="0"/>
                </a:moveTo>
                <a:lnTo>
                  <a:pt x="6745487" y="0"/>
                </a:lnTo>
                <a:lnTo>
                  <a:pt x="6745487" y="8998982"/>
                </a:lnTo>
                <a:lnTo>
                  <a:pt x="0" y="899898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966417" y="1547337"/>
            <a:ext cx="5584022" cy="7710963"/>
          </a:xfrm>
          <a:custGeom>
            <a:avLst/>
            <a:gdLst/>
            <a:ahLst/>
            <a:cxnLst/>
            <a:rect l="l" t="t" r="r" b="b"/>
            <a:pathLst>
              <a:path w="5584022" h="7710963">
                <a:moveTo>
                  <a:pt x="0" y="0"/>
                </a:moveTo>
                <a:lnTo>
                  <a:pt x="5584022" y="0"/>
                </a:lnTo>
                <a:lnTo>
                  <a:pt x="5584022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6687801" y="9620074"/>
            <a:ext cx="700092" cy="3052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755621" y="1104461"/>
            <a:ext cx="10776758" cy="8078078"/>
          </a:xfrm>
          <a:custGeom>
            <a:avLst/>
            <a:gdLst/>
            <a:ahLst/>
            <a:cxnLst/>
            <a:rect l="l" t="t" r="r" b="b"/>
            <a:pathLst>
              <a:path w="10776758" h="8078078">
                <a:moveTo>
                  <a:pt x="0" y="0"/>
                </a:moveTo>
                <a:lnTo>
                  <a:pt x="10776758" y="0"/>
                </a:lnTo>
                <a:lnTo>
                  <a:pt x="10776758" y="8078078"/>
                </a:lnTo>
                <a:lnTo>
                  <a:pt x="0" y="807807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687801" y="9639300"/>
            <a:ext cx="700092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7" name="Group 7"/>
          <p:cNvGrpSpPr/>
          <p:nvPr/>
        </p:nvGrpSpPr>
        <p:grpSpPr>
          <a:xfrm>
            <a:off x="15885395" y="7933172"/>
            <a:ext cx="2353828" cy="2353828"/>
            <a:chOff x="0" y="0"/>
            <a:chExt cx="270933" cy="2709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0933" cy="270933"/>
            </a:xfrm>
            <a:custGeom>
              <a:avLst/>
              <a:gdLst/>
              <a:ahLst/>
              <a:cxnLst/>
              <a:rect l="l" t="t" r="r" b="b"/>
              <a:pathLst>
                <a:path w="270933" h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C1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70933" cy="309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Freeform 10">
            <a:hlinkClick r:id="rId3" action="ppaction://hlinksldjump"/>
          </p:cNvPr>
          <p:cNvSpPr/>
          <p:nvPr/>
        </p:nvSpPr>
        <p:spPr>
          <a:xfrm>
            <a:off x="15597902" y="7943948"/>
            <a:ext cx="2928815" cy="2343052"/>
          </a:xfrm>
          <a:custGeom>
            <a:avLst/>
            <a:gdLst/>
            <a:ahLst/>
            <a:cxnLst/>
            <a:rect l="l" t="t" r="r" b="b"/>
            <a:pathLst>
              <a:path w="2928815" h="2343052">
                <a:moveTo>
                  <a:pt x="0" y="0"/>
                </a:moveTo>
                <a:lnTo>
                  <a:pt x="2928815" y="0"/>
                </a:lnTo>
                <a:lnTo>
                  <a:pt x="2928815" y="2343052"/>
                </a:lnTo>
                <a:lnTo>
                  <a:pt x="0" y="234305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Freeform 11">
            <a:hlinkClick r:id="rId3" action="ppaction://hlinksldjump"/>
          </p:cNvPr>
          <p:cNvSpPr/>
          <p:nvPr/>
        </p:nvSpPr>
        <p:spPr>
          <a:xfrm>
            <a:off x="17352609" y="9115474"/>
            <a:ext cx="776629" cy="776629"/>
          </a:xfrm>
          <a:custGeom>
            <a:avLst/>
            <a:gdLst/>
            <a:ahLst/>
            <a:cxnLst/>
            <a:rect l="l" t="t" r="r" b="b"/>
            <a:pathLst>
              <a:path w="776629" h="776629">
                <a:moveTo>
                  <a:pt x="0" y="0"/>
                </a:moveTo>
                <a:lnTo>
                  <a:pt x="776629" y="0"/>
                </a:lnTo>
                <a:lnTo>
                  <a:pt x="776629" y="776629"/>
                </a:lnTo>
                <a:lnTo>
                  <a:pt x="0" y="7766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824321" y="532379"/>
            <a:ext cx="7054503" cy="9411232"/>
          </a:xfrm>
          <a:custGeom>
            <a:avLst/>
            <a:gdLst/>
            <a:ahLst/>
            <a:cxnLst/>
            <a:rect l="l" t="t" r="r" b="b"/>
            <a:pathLst>
              <a:path w="7054503" h="9411232">
                <a:moveTo>
                  <a:pt x="0" y="0"/>
                </a:moveTo>
                <a:lnTo>
                  <a:pt x="7054503" y="0"/>
                </a:lnTo>
                <a:lnTo>
                  <a:pt x="7054503" y="9411233"/>
                </a:lnTo>
                <a:lnTo>
                  <a:pt x="0" y="941123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6611601" y="9639300"/>
            <a:ext cx="776292" cy="3043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644"/>
              </a:lnSpc>
            </a:pPr>
            <a:r>
              <a:rPr lang="en-US" sz="1889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PLAN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>
        <p159:morph option="byObject"/>
      </p:transition>
    </mc:Choice>
    <mc:Fallback>
      <p:transition spd="slow" advClick="0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5587</TotalTime>
  <Words>495</Words>
  <Application>Microsoft Office PowerPoint</Application>
  <PresentationFormat>Custom</PresentationFormat>
  <Paragraphs>130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5" baseType="lpstr">
      <vt:lpstr>Arial</vt:lpstr>
      <vt:lpstr>Poppins Bold</vt:lpstr>
      <vt:lpstr>Brittany</vt:lpstr>
      <vt:lpstr>Canva Sans Bold</vt:lpstr>
      <vt:lpstr>Invitation</vt:lpstr>
      <vt:lpstr>Open Sans</vt:lpstr>
      <vt:lpstr>Times New Roman MT Italics</vt:lpstr>
      <vt:lpstr>Poppins</vt:lpstr>
      <vt:lpstr>Open Sans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White Monochrome Building Construction Presentation</dc:title>
  <dc:creator>Dalia</dc:creator>
  <cp:lastModifiedBy>dalia zakaria</cp:lastModifiedBy>
  <cp:revision>4</cp:revision>
  <dcterms:created xsi:type="dcterms:W3CDTF">2006-08-16T00:00:00Z</dcterms:created>
  <dcterms:modified xsi:type="dcterms:W3CDTF">2026-05-19T11:10:04Z</dcterms:modified>
  <dc:identifier>DAHIb9O591E</dc:identifier>
</cp:coreProperties>
</file>